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44"/>
  </p:notesMasterIdLst>
  <p:sldIdLst>
    <p:sldId id="774" r:id="rId5"/>
    <p:sldId id="847" r:id="rId6"/>
    <p:sldId id="856" r:id="rId7"/>
    <p:sldId id="902" r:id="rId8"/>
    <p:sldId id="906" r:id="rId9"/>
    <p:sldId id="854" r:id="rId10"/>
    <p:sldId id="879" r:id="rId11"/>
    <p:sldId id="907" r:id="rId12"/>
    <p:sldId id="885" r:id="rId13"/>
    <p:sldId id="888" r:id="rId14"/>
    <p:sldId id="889" r:id="rId15"/>
    <p:sldId id="890" r:id="rId16"/>
    <p:sldId id="894" r:id="rId17"/>
    <p:sldId id="895" r:id="rId18"/>
    <p:sldId id="896" r:id="rId19"/>
    <p:sldId id="897" r:id="rId20"/>
    <p:sldId id="891" r:id="rId21"/>
    <p:sldId id="892" r:id="rId22"/>
    <p:sldId id="893" r:id="rId23"/>
    <p:sldId id="883" r:id="rId24"/>
    <p:sldId id="884" r:id="rId25"/>
    <p:sldId id="886" r:id="rId26"/>
    <p:sldId id="887" r:id="rId27"/>
    <p:sldId id="898" r:id="rId28"/>
    <p:sldId id="899" r:id="rId29"/>
    <p:sldId id="900" r:id="rId30"/>
    <p:sldId id="908" r:id="rId31"/>
    <p:sldId id="909" r:id="rId32"/>
    <p:sldId id="910" r:id="rId33"/>
    <p:sldId id="911" r:id="rId34"/>
    <p:sldId id="903" r:id="rId35"/>
    <p:sldId id="904" r:id="rId36"/>
    <p:sldId id="882" r:id="rId37"/>
    <p:sldId id="880" r:id="rId38"/>
    <p:sldId id="881" r:id="rId39"/>
    <p:sldId id="859" r:id="rId40"/>
    <p:sldId id="865" r:id="rId41"/>
    <p:sldId id="868" r:id="rId42"/>
    <p:sldId id="794"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r. Peeta Basa Pati" initials="DPBP" lastIdx="1" clrIdx="0">
    <p:extLst>
      <p:ext uri="{19B8F6BF-5375-455C-9EA6-DF929625EA0E}">
        <p15:presenceInfo xmlns:p15="http://schemas.microsoft.com/office/powerpoint/2012/main" userId="S::bp_peeta@blr.amrita.edu::d5d7df4c-1c7c-46ba-b2e6-049fb9603be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0021"/>
    <a:srgbClr val="FF2F92"/>
    <a:srgbClr val="941651"/>
    <a:srgbClr val="C11D6B"/>
    <a:srgbClr val="E2828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5B6C7D-3E6B-45A8-92D7-7F3061616A51}" type="datetimeFigureOut">
              <a:rPr lang="en-US" smtClean="0"/>
              <a:pPr/>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E8BD47-A728-4C15-ACCB-72F3968591FE}" type="slidenum">
              <a:rPr lang="en-US" smtClean="0"/>
              <a:pPr/>
              <a:t>‹#›</a:t>
            </a:fld>
            <a:endParaRPr lang="en-US"/>
          </a:p>
        </p:txBody>
      </p:sp>
    </p:spTree>
    <p:extLst>
      <p:ext uri="{BB962C8B-B14F-4D97-AF65-F5344CB8AC3E}">
        <p14:creationId xmlns:p14="http://schemas.microsoft.com/office/powerpoint/2010/main" val="2154365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8401C-3D73-9145-9D27-022775352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98FC3C5-2E28-584B-9E08-C350F04738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E1AA21-1AC4-EE4A-9EE6-2CF249667C7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4B026A89-F6F6-594C-B1D8-D2FE52E181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p:txBody>
          <a:bodyPr/>
          <a:lstStyle/>
          <a:p>
            <a:fld id="{71766878-3199-4EAB-94E7-2D6D11070E14}" type="slidenum">
              <a:rPr lang="en-US" smtClean="0"/>
              <a:pPr/>
              <a:t>‹#›</a:t>
            </a:fld>
            <a:endParaRPr lang="en-US"/>
          </a:p>
        </p:txBody>
      </p:sp>
    </p:spTree>
    <p:extLst>
      <p:ext uri="{BB962C8B-B14F-4D97-AF65-F5344CB8AC3E}">
        <p14:creationId xmlns:p14="http://schemas.microsoft.com/office/powerpoint/2010/main" val="2607430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341194" y="1137256"/>
            <a:ext cx="11436823"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341194" y="348661"/>
            <a:ext cx="11436823" cy="421441"/>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89" y="6412491"/>
            <a:ext cx="12218977" cy="478447"/>
          </a:xfrm>
          <a:prstGeom prst="rect">
            <a:avLst/>
          </a:prstGeom>
        </p:spPr>
      </p:pic>
      <p:pic>
        <p:nvPicPr>
          <p:cNvPr id="9" name="Picture 8">
            <a:extLst>
              <a:ext uri="{FF2B5EF4-FFF2-40B4-BE49-F238E27FC236}">
                <a16:creationId xmlns:a16="http://schemas.microsoft.com/office/drawing/2014/main" id="{0AD13F47-3531-4371-B8DB-59E457D073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645254" y="6520072"/>
            <a:ext cx="1262820" cy="283912"/>
          </a:xfrm>
          <a:prstGeom prst="rect">
            <a:avLst/>
          </a:prstGeom>
        </p:spPr>
      </p:pic>
      <p:sp>
        <p:nvSpPr>
          <p:cNvPr id="6" name="Slide Number Placeholder 5">
            <a:extLst>
              <a:ext uri="{FF2B5EF4-FFF2-40B4-BE49-F238E27FC236}">
                <a16:creationId xmlns:a16="http://schemas.microsoft.com/office/drawing/2014/main" id="{8325ABD8-565B-E441-A71D-873F53B630F7}"/>
              </a:ext>
            </a:extLst>
          </p:cNvPr>
          <p:cNvSpPr>
            <a:spLocks noGrp="1"/>
          </p:cNvSpPr>
          <p:nvPr>
            <p:ph type="sldNum" sz="quarter" idx="12"/>
          </p:nvPr>
        </p:nvSpPr>
        <p:spPr>
          <a:xfrm>
            <a:off x="115956" y="6478751"/>
            <a:ext cx="758687" cy="365125"/>
          </a:xfrm>
        </p:spPr>
        <p:txBody>
          <a:bodyPr/>
          <a:lstStyle>
            <a:lvl1pPr>
              <a:defRPr sz="1600">
                <a:solidFill>
                  <a:schemeClr val="bg1"/>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130210221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1015E1-575C-CC43-8E0C-38A94C0D07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8D70D65-9225-7C42-BE9D-7E7ACD230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BD5A4A-C107-8941-A91D-265C670352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79748F1F-AA4B-E44F-87CA-30B4D3D4B1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1F76259-99F7-DF4A-8A42-0737A8CCEB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766878-3199-4EAB-94E7-2D6D11070E14}" type="slidenum">
              <a:rPr lang="en-US" smtClean="0"/>
              <a:pPr/>
              <a:t>‹#›</a:t>
            </a:fld>
            <a:endParaRPr lang="en-US"/>
          </a:p>
        </p:txBody>
      </p:sp>
    </p:spTree>
    <p:extLst>
      <p:ext uri="{BB962C8B-B14F-4D97-AF65-F5344CB8AC3E}">
        <p14:creationId xmlns:p14="http://schemas.microsoft.com/office/powerpoint/2010/main" val="2433542519"/>
      </p:ext>
    </p:extLst>
  </p:cSld>
  <p:clrMap bg1="lt1" tx1="dk1" bg2="lt2" tx2="dk2" accent1="accent1" accent2="accent2" accent3="accent3" accent4="accent4" accent5="accent5" accent6="accent6" hlink="hlink" folHlink="folHlink"/>
  <p:sldLayoutIdLst>
    <p:sldLayoutId id="2147483811" r:id="rId1"/>
    <p:sldLayoutId id="2147483812" r:id="rId2"/>
  </p:sldLayoutIdLst>
  <p:hf hdr="0" ftr="0" dt="0"/>
  <p:txStyles>
    <p:titleStyle>
      <a:lvl1pPr algn="l" defTabSz="914400" rtl="0" eaLnBrk="1" latinLnBrk="0" hangingPunct="1">
        <a:lnSpc>
          <a:spcPct val="90000"/>
        </a:lnSpc>
        <a:spcBef>
          <a:spcPct val="0"/>
        </a:spcBef>
        <a:buNone/>
        <a:defRPr sz="40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hyperlink" Target="https://www.sciencedirect.com/journal/procedia-computer-science"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355600"/>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a:solidFill>
                <a:prstClr val="white"/>
              </a:solidFill>
              <a:latin typeface="Georgia" panose="02040502050405020303" pitchFamily="18" charset="0"/>
            </a:endParaRPr>
          </a:p>
        </p:txBody>
      </p:sp>
      <p:pic>
        <p:nvPicPr>
          <p:cNvPr id="7" name="Picture 6" descr="A picture containing drawing&#10;&#10;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429797" y="4747409"/>
            <a:ext cx="4590899" cy="1473199"/>
          </a:xfrm>
          <a:prstGeom prst="rect">
            <a:avLst/>
          </a:prstGeom>
        </p:spPr>
      </p:pic>
      <p:sp>
        <p:nvSpPr>
          <p:cNvPr id="8" name="TextBox 7">
            <a:extLst>
              <a:ext uri="{FF2B5EF4-FFF2-40B4-BE49-F238E27FC236}">
                <a16:creationId xmlns:a16="http://schemas.microsoft.com/office/drawing/2014/main" id="{BE776D66-1F2F-B348-8DC7-42BD5D86556D}"/>
              </a:ext>
            </a:extLst>
          </p:cNvPr>
          <p:cNvSpPr txBox="1"/>
          <p:nvPr/>
        </p:nvSpPr>
        <p:spPr>
          <a:xfrm>
            <a:off x="6315680" y="4637389"/>
            <a:ext cx="5748057" cy="2000548"/>
          </a:xfrm>
          <a:prstGeom prst="rect">
            <a:avLst/>
          </a:prstGeom>
          <a:noFill/>
        </p:spPr>
        <p:txBody>
          <a:bodyPr wrap="square" lIns="91440" tIns="45720" rIns="91440" bIns="45720" rtlCol="0" anchor="t">
            <a:spAutoFit/>
          </a:bodyPr>
          <a:lstStyle/>
          <a:p>
            <a:pPr defTabSz="914400"/>
            <a:r>
              <a:rPr lang="en-US" sz="2800" dirty="0">
                <a:solidFill>
                  <a:prstClr val="white"/>
                </a:solidFill>
                <a:latin typeface="Georgia"/>
                <a:ea typeface="+mn-lt"/>
                <a:cs typeface="+mn-lt"/>
              </a:rPr>
              <a:t>Nischal V Pattedar,  </a:t>
            </a:r>
          </a:p>
          <a:p>
            <a:pPr defTabSz="914400"/>
            <a:r>
              <a:rPr lang="en-US" sz="2800" dirty="0">
                <a:solidFill>
                  <a:prstClr val="white"/>
                </a:solidFill>
                <a:latin typeface="Georgia"/>
                <a:ea typeface="+mn-lt"/>
                <a:cs typeface="+mn-lt"/>
              </a:rPr>
              <a:t>Punav Anirudh Potluri,</a:t>
            </a:r>
            <a:endParaRPr lang="en-US" dirty="0">
              <a:solidFill>
                <a:prstClr val="white"/>
              </a:solidFill>
              <a:latin typeface="Calibri"/>
              <a:ea typeface="+mn-lt"/>
              <a:cs typeface="+mn-lt"/>
            </a:endParaRPr>
          </a:p>
          <a:p>
            <a:pPr defTabSz="914400"/>
            <a:r>
              <a:rPr lang="en-US" sz="2800" dirty="0">
                <a:solidFill>
                  <a:prstClr val="white"/>
                </a:solidFill>
                <a:latin typeface="Georgia"/>
                <a:ea typeface="Calibri"/>
                <a:cs typeface="Calibri"/>
              </a:rPr>
              <a:t>Raunak Choudhury</a:t>
            </a:r>
          </a:p>
          <a:p>
            <a:pPr defTabSz="914400"/>
            <a:r>
              <a:rPr lang="en-US" sz="2000" dirty="0">
                <a:solidFill>
                  <a:prstClr val="white"/>
                </a:solidFill>
                <a:latin typeface="Georgia"/>
                <a:ea typeface="+mn-lt"/>
                <a:cs typeface="+mn-lt"/>
              </a:rPr>
              <a:t>Department of Computer Science &amp; Engineering,</a:t>
            </a:r>
            <a:endParaRPr lang="en-US" sz="2000" dirty="0">
              <a:solidFill>
                <a:prstClr val="white"/>
              </a:solidFill>
            </a:endParaRPr>
          </a:p>
          <a:p>
            <a:pPr defTabSz="914400"/>
            <a:r>
              <a:rPr lang="en-US" sz="2000" dirty="0">
                <a:solidFill>
                  <a:prstClr val="white"/>
                </a:solidFill>
                <a:latin typeface="Georgia"/>
                <a:ea typeface="+mn-lt"/>
                <a:cs typeface="+mn-lt"/>
              </a:rPr>
              <a:t>Amrita School of Engineering, Bengaluru</a:t>
            </a:r>
            <a:endParaRPr lang="en-US" sz="2000" dirty="0">
              <a:solidFill>
                <a:prstClr val="white"/>
              </a:solidFill>
            </a:endParaRPr>
          </a:p>
        </p:txBody>
      </p:sp>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6269503" y="4914621"/>
            <a:ext cx="0" cy="1441729"/>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Slide Number Placeholder 1"/>
          <p:cNvSpPr>
            <a:spLocks noGrp="1"/>
          </p:cNvSpPr>
          <p:nvPr>
            <p:ph type="sldNum" sz="quarter" idx="12"/>
          </p:nvPr>
        </p:nvSpPr>
        <p:spPr/>
        <p:txBody>
          <a:bodyPr/>
          <a:lstStyle/>
          <a:p>
            <a:fld id="{71766878-3199-4EAB-94E7-2D6D11070E14}" type="slidenum">
              <a:rPr lang="en-US" smtClean="0"/>
              <a:pPr/>
              <a:t>1</a:t>
            </a:fld>
            <a:endParaRPr lang="en-US"/>
          </a:p>
        </p:txBody>
      </p:sp>
      <p:sp>
        <p:nvSpPr>
          <p:cNvPr id="10" name="Rectangle 9">
            <a:extLst>
              <a:ext uri="{FF2B5EF4-FFF2-40B4-BE49-F238E27FC236}">
                <a16:creationId xmlns:a16="http://schemas.microsoft.com/office/drawing/2014/main" id="{06A3B953-744B-3D4F-8898-C0158B157C87}"/>
              </a:ext>
            </a:extLst>
          </p:cNvPr>
          <p:cNvSpPr/>
          <p:nvPr/>
        </p:nvSpPr>
        <p:spPr>
          <a:xfrm>
            <a:off x="276722" y="1094721"/>
            <a:ext cx="11487140" cy="2585323"/>
          </a:xfrm>
          <a:prstGeom prst="rect">
            <a:avLst/>
          </a:prstGeom>
          <a:noFill/>
        </p:spPr>
        <p:txBody>
          <a:bodyPr wrap="square" lIns="91440" tIns="45720" rIns="91440" bIns="45720" anchor="t">
            <a:spAutoFit/>
          </a:bodyPr>
          <a:lstStyle/>
          <a:p>
            <a:pPr algn="ctr" defTabSz="914400"/>
            <a:r>
              <a:rPr lang="en-US" sz="5400">
                <a:solidFill>
                  <a:prstClr val="white"/>
                </a:solidFill>
                <a:latin typeface="Georgia"/>
                <a:ea typeface="+mn-lt"/>
                <a:cs typeface="+mn-lt"/>
              </a:rPr>
              <a:t>Blockchain-Driven Agricultural Supply Chain Management for Equitable Stakeholder Participation</a:t>
            </a:r>
            <a:endParaRPr lang="en-US">
              <a:solidFill>
                <a:prstClr val="white"/>
              </a:solidFill>
            </a:endParaRPr>
          </a:p>
        </p:txBody>
      </p:sp>
    </p:spTree>
    <p:extLst>
      <p:ext uri="{BB962C8B-B14F-4D97-AF65-F5344CB8AC3E}">
        <p14:creationId xmlns:p14="http://schemas.microsoft.com/office/powerpoint/2010/main" val="1398279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194" y="348661"/>
            <a:ext cx="11436823" cy="703391"/>
          </a:xfrm>
        </p:spPr>
        <p:txBody>
          <a:bodyPr/>
          <a:lstStyle/>
          <a:p>
            <a:pPr algn="ctr"/>
            <a:r>
              <a:rPr lang="en-US" sz="4500" b="1" dirty="0"/>
              <a:t>Introduction</a:t>
            </a:r>
          </a:p>
        </p:txBody>
      </p:sp>
      <p:sp>
        <p:nvSpPr>
          <p:cNvPr id="4" name="Slide Number Placeholder 3"/>
          <p:cNvSpPr>
            <a:spLocks noGrp="1"/>
          </p:cNvSpPr>
          <p:nvPr>
            <p:ph type="sldNum" sz="quarter" idx="12"/>
          </p:nvPr>
        </p:nvSpPr>
        <p:spPr/>
        <p:txBody>
          <a:bodyPr/>
          <a:lstStyle/>
          <a:p>
            <a:fld id="{71766878-3199-4EAB-94E7-2D6D11070E14}" type="slidenum">
              <a:rPr lang="en-US" smtClean="0"/>
              <a:pPr/>
              <a:t>2</a:t>
            </a:fld>
            <a:endParaRPr lang="en-US"/>
          </a:p>
        </p:txBody>
      </p:sp>
      <p:sp>
        <p:nvSpPr>
          <p:cNvPr id="2" name="Content Placeholder 1"/>
          <p:cNvSpPr>
            <a:spLocks noGrp="1"/>
          </p:cNvSpPr>
          <p:nvPr>
            <p:ph idx="1"/>
          </p:nvPr>
        </p:nvSpPr>
        <p:spPr>
          <a:xfrm>
            <a:off x="341194" y="1143074"/>
            <a:ext cx="11436823" cy="4908082"/>
          </a:xfrm>
        </p:spPr>
        <p:txBody>
          <a:bodyPr vert="horz" lIns="91440" tIns="45720" rIns="91440" bIns="45720" rtlCol="0" anchor="t">
            <a:normAutofit/>
          </a:bodyPr>
          <a:lstStyle/>
          <a:p>
            <a:pPr>
              <a:buFont typeface="Arial"/>
              <a:buChar char="•"/>
            </a:pPr>
            <a:r>
              <a:rPr lang="en-US" sz="3200" b="1" dirty="0">
                <a:latin typeface="Georgia"/>
              </a:rPr>
              <a:t>Core Idea:</a:t>
            </a:r>
            <a:r>
              <a:rPr lang="en-US" sz="3200" dirty="0">
                <a:latin typeface="Georgia"/>
              </a:rPr>
              <a:t> Replace opaque, centralized systems with a </a:t>
            </a:r>
            <a:r>
              <a:rPr lang="en-US" sz="3200" b="1" dirty="0">
                <a:latin typeface="Georgia"/>
              </a:rPr>
              <a:t>shared, trustworthy digital ledger </a:t>
            </a:r>
            <a:r>
              <a:rPr lang="en-US" sz="3200" dirty="0">
                <a:latin typeface="Georgia"/>
              </a:rPr>
              <a:t>and p</a:t>
            </a:r>
            <a:r>
              <a:rPr lang="en-US" sz="3200" dirty="0"/>
              <a:t>rovides </a:t>
            </a:r>
            <a:r>
              <a:rPr lang="en-US" sz="3200" b="1" dirty="0"/>
              <a:t>end-to-end visibility</a:t>
            </a:r>
            <a:r>
              <a:rPr lang="en-US" sz="3200" dirty="0"/>
              <a:t> of a product's journey from farm to consumer</a:t>
            </a:r>
          </a:p>
          <a:p>
            <a:pPr>
              <a:buFont typeface="Arial"/>
              <a:buChar char="•"/>
            </a:pPr>
            <a:r>
              <a:rPr lang="en-US" sz="3200" b="1" dirty="0">
                <a:latin typeface="Georgia"/>
              </a:rPr>
              <a:t>Main Aim:</a:t>
            </a:r>
            <a:r>
              <a:rPr lang="en-US" sz="3200" dirty="0">
                <a:latin typeface="Georgia"/>
              </a:rPr>
              <a:t> Enhance </a:t>
            </a:r>
            <a:r>
              <a:rPr lang="en-US" sz="3200" b="1" dirty="0">
                <a:latin typeface="Georgia"/>
              </a:rPr>
              <a:t>transparency, trust, and traceability</a:t>
            </a:r>
            <a:r>
              <a:rPr lang="en-US" sz="3200" dirty="0">
                <a:latin typeface="Georgia"/>
              </a:rPr>
              <a:t> in the agricultural supply chain via a blockchain prototype, enabling farm-to-table tracking with </a:t>
            </a:r>
            <a:r>
              <a:rPr lang="en-US" sz="3200" b="1" dirty="0">
                <a:latin typeface="Georgia"/>
              </a:rPr>
              <a:t>verifiable, immutable records </a:t>
            </a:r>
            <a:r>
              <a:rPr lang="en-US" sz="3200" dirty="0">
                <a:latin typeface="Georgia"/>
              </a:rPr>
              <a:t>accessible to all stakeholders.</a:t>
            </a:r>
            <a:endParaRPr lang="en-US" sz="3200" dirty="0"/>
          </a:p>
          <a:p>
            <a:pPr>
              <a:buFont typeface="Arial"/>
              <a:buChar char="•"/>
            </a:pPr>
            <a:endParaRPr lang="en-US"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41194" y="348661"/>
            <a:ext cx="11436823" cy="673894"/>
          </a:xfrm>
        </p:spPr>
        <p:txBody>
          <a:bodyPr/>
          <a:lstStyle/>
          <a:p>
            <a:pPr algn="ctr"/>
            <a:r>
              <a:rPr lang="en-US" sz="4500" b="1" dirty="0">
                <a:latin typeface="Georgia"/>
              </a:rPr>
              <a:t>Objectives </a:t>
            </a:r>
            <a:endParaRPr lang="en-US" sz="4500" b="1" dirty="0"/>
          </a:p>
        </p:txBody>
      </p:sp>
      <p:sp>
        <p:nvSpPr>
          <p:cNvPr id="4" name="Slide Number Placeholder 3"/>
          <p:cNvSpPr>
            <a:spLocks noGrp="1"/>
          </p:cNvSpPr>
          <p:nvPr>
            <p:ph type="sldNum" sz="quarter" idx="12"/>
          </p:nvPr>
        </p:nvSpPr>
        <p:spPr/>
        <p:txBody>
          <a:bodyPr/>
          <a:lstStyle/>
          <a:p>
            <a:fld id="{71766878-3199-4EAB-94E7-2D6D11070E14}" type="slidenum">
              <a:rPr lang="en-US" smtClean="0"/>
              <a:pPr/>
              <a:t>3</a:t>
            </a:fld>
            <a:endParaRPr lang="en-US"/>
          </a:p>
        </p:txBody>
      </p:sp>
      <p:sp>
        <p:nvSpPr>
          <p:cNvPr id="2" name="Content Placeholder 1"/>
          <p:cNvSpPr>
            <a:spLocks noGrp="1"/>
          </p:cNvSpPr>
          <p:nvPr>
            <p:ph idx="1"/>
          </p:nvPr>
        </p:nvSpPr>
        <p:spPr/>
        <p:txBody>
          <a:bodyPr vert="horz" lIns="91440" tIns="45720" rIns="91440" bIns="45720" rtlCol="0" anchor="t">
            <a:noAutofit/>
          </a:bodyPr>
          <a:lstStyle/>
          <a:p>
            <a:r>
              <a:rPr lang="en-US" b="1" dirty="0"/>
              <a:t>Secure Product Origination:</a:t>
            </a:r>
            <a:r>
              <a:rPr lang="en-US" dirty="0"/>
              <a:t> Enable farmers to securely register new products (including details like origin, quantity, price) onto the blockchain, creating an immutable initial record.</a:t>
            </a:r>
          </a:p>
          <a:p>
            <a:r>
              <a:rPr lang="en-US" b="1" dirty="0"/>
              <a:t>Verifiable Proof:</a:t>
            </a:r>
            <a:r>
              <a:rPr lang="en-US" dirty="0"/>
              <a:t> Ensure each product registration and subsequent action is backed by a verifiable transaction hash on the blockchain (e.g., via </a:t>
            </a:r>
            <a:r>
              <a:rPr lang="en-US" dirty="0" err="1"/>
              <a:t>Etherscan</a:t>
            </a:r>
            <a:r>
              <a:rPr lang="en-US" dirty="0"/>
              <a:t>).</a:t>
            </a:r>
          </a:p>
          <a:p>
            <a:r>
              <a:rPr lang="en-US" b="1" dirty="0"/>
              <a:t>On-Chain State &amp; Ownership Tracking:</a:t>
            </a:r>
            <a:r>
              <a:rPr lang="en-US" dirty="0"/>
              <a:t> Implement a smart contract system to manage the product's lifecycle (e.g., Harvested, Shipped, Received, For Sale) and track ownership transfers between stakeholders (Farmer, Wholesaler, Retailer).</a:t>
            </a:r>
          </a:p>
        </p:txBody>
      </p:sp>
    </p:spTree>
    <p:extLst>
      <p:ext uri="{BB962C8B-B14F-4D97-AF65-F5344CB8AC3E}">
        <p14:creationId xmlns:p14="http://schemas.microsoft.com/office/powerpoint/2010/main" val="20623306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A9F08-3769-2FC9-9FE9-0768FEFF4F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8B91E84-974B-9F6A-FFF7-E1DA9661AA27}"/>
              </a:ext>
            </a:extLst>
          </p:cNvPr>
          <p:cNvSpPr>
            <a:spLocks noGrp="1"/>
          </p:cNvSpPr>
          <p:nvPr>
            <p:ph type="title"/>
          </p:nvPr>
        </p:nvSpPr>
        <p:spPr>
          <a:xfrm>
            <a:off x="341194" y="348661"/>
            <a:ext cx="11436823" cy="673894"/>
          </a:xfrm>
        </p:spPr>
        <p:txBody>
          <a:bodyPr/>
          <a:lstStyle/>
          <a:p>
            <a:pPr algn="ctr"/>
            <a:r>
              <a:rPr lang="en-US" sz="4500" b="1" dirty="0">
                <a:latin typeface="Georgia"/>
              </a:rPr>
              <a:t>Objectives </a:t>
            </a:r>
            <a:endParaRPr lang="en-US" sz="4500" b="1" dirty="0"/>
          </a:p>
        </p:txBody>
      </p:sp>
      <p:sp>
        <p:nvSpPr>
          <p:cNvPr id="4" name="Slide Number Placeholder 3">
            <a:extLst>
              <a:ext uri="{FF2B5EF4-FFF2-40B4-BE49-F238E27FC236}">
                <a16:creationId xmlns:a16="http://schemas.microsoft.com/office/drawing/2014/main" id="{CEA92DC7-AEA1-66D0-AA84-A2B389F8752D}"/>
              </a:ext>
            </a:extLst>
          </p:cNvPr>
          <p:cNvSpPr>
            <a:spLocks noGrp="1"/>
          </p:cNvSpPr>
          <p:nvPr>
            <p:ph type="sldNum" sz="quarter" idx="12"/>
          </p:nvPr>
        </p:nvSpPr>
        <p:spPr/>
        <p:txBody>
          <a:bodyPr/>
          <a:lstStyle/>
          <a:p>
            <a:fld id="{71766878-3199-4EAB-94E7-2D6D11070E14}" type="slidenum">
              <a:rPr lang="en-US" smtClean="0"/>
              <a:pPr/>
              <a:t>4</a:t>
            </a:fld>
            <a:endParaRPr lang="en-US"/>
          </a:p>
        </p:txBody>
      </p:sp>
      <p:sp>
        <p:nvSpPr>
          <p:cNvPr id="2" name="Content Placeholder 1">
            <a:extLst>
              <a:ext uri="{FF2B5EF4-FFF2-40B4-BE49-F238E27FC236}">
                <a16:creationId xmlns:a16="http://schemas.microsoft.com/office/drawing/2014/main" id="{02150957-17C5-E5AE-17BD-0CB1F4B89DEF}"/>
              </a:ext>
            </a:extLst>
          </p:cNvPr>
          <p:cNvSpPr>
            <a:spLocks noGrp="1"/>
          </p:cNvSpPr>
          <p:nvPr>
            <p:ph idx="1"/>
          </p:nvPr>
        </p:nvSpPr>
        <p:spPr/>
        <p:txBody>
          <a:bodyPr vert="horz" lIns="91440" tIns="45720" rIns="91440" bIns="45720" rtlCol="0" anchor="t">
            <a:noAutofit/>
          </a:bodyPr>
          <a:lstStyle/>
          <a:p>
            <a:r>
              <a:rPr lang="en-US" b="1" dirty="0"/>
              <a:t>Enforced Process Flow:</a:t>
            </a:r>
            <a:r>
              <a:rPr lang="en-US" dirty="0"/>
              <a:t> Utilize smart contract logic to ensure products move through the supply chain according to predefined rules and states.</a:t>
            </a:r>
          </a:p>
          <a:p>
            <a:r>
              <a:rPr lang="en-US" b="1" dirty="0"/>
              <a:t>Role-Based Access &amp; Simulation:</a:t>
            </a:r>
            <a:r>
              <a:rPr lang="en-US" dirty="0"/>
              <a:t> Develop a user interface that simulates different stakeholder roles (Farmer, Wholesaler, Retailer, Consumer), providing role-specific views and actions authorized by on-chain ownership.</a:t>
            </a:r>
          </a:p>
          <a:p>
            <a:r>
              <a:rPr lang="en-US" b="1" dirty="0"/>
              <a:t>End-to-End Traceability:</a:t>
            </a:r>
            <a:r>
              <a:rPr lang="en-US" dirty="0"/>
              <a:t> Allow consumers (and other stakeholders) to view the complete, verifiable history of a product's journey from origin to potential point of sale.</a:t>
            </a:r>
          </a:p>
        </p:txBody>
      </p:sp>
    </p:spTree>
    <p:extLst>
      <p:ext uri="{BB962C8B-B14F-4D97-AF65-F5344CB8AC3E}">
        <p14:creationId xmlns:p14="http://schemas.microsoft.com/office/powerpoint/2010/main" val="1774198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C9DE8-A616-99DE-98B5-16CDFC85365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5169567-FFFB-E301-D3DC-F6804251DC4C}"/>
              </a:ext>
            </a:extLst>
          </p:cNvPr>
          <p:cNvSpPr>
            <a:spLocks noGrp="1"/>
          </p:cNvSpPr>
          <p:nvPr>
            <p:ph type="title"/>
          </p:nvPr>
        </p:nvSpPr>
        <p:spPr>
          <a:xfrm>
            <a:off x="377588" y="241488"/>
            <a:ext cx="11436823" cy="593706"/>
          </a:xfrm>
        </p:spPr>
        <p:txBody>
          <a:bodyPr/>
          <a:lstStyle/>
          <a:p>
            <a:pPr algn="ctr"/>
            <a:r>
              <a:rPr lang="en-IN" sz="4000" b="1" dirty="0"/>
              <a:t>Sustainable Development Goals (SDGs)</a:t>
            </a:r>
          </a:p>
        </p:txBody>
      </p:sp>
      <p:sp>
        <p:nvSpPr>
          <p:cNvPr id="4" name="Slide Number Placeholder 3">
            <a:extLst>
              <a:ext uri="{FF2B5EF4-FFF2-40B4-BE49-F238E27FC236}">
                <a16:creationId xmlns:a16="http://schemas.microsoft.com/office/drawing/2014/main" id="{927DC5FC-5D1F-015E-A9C2-24DC42B577E7}"/>
              </a:ext>
            </a:extLst>
          </p:cNvPr>
          <p:cNvSpPr>
            <a:spLocks noGrp="1"/>
          </p:cNvSpPr>
          <p:nvPr>
            <p:ph type="sldNum" sz="quarter" idx="12"/>
          </p:nvPr>
        </p:nvSpPr>
        <p:spPr/>
        <p:txBody>
          <a:bodyPr/>
          <a:lstStyle/>
          <a:p>
            <a:fld id="{71766878-3199-4EAB-94E7-2D6D11070E14}" type="slidenum">
              <a:rPr lang="en-US" smtClean="0"/>
              <a:pPr/>
              <a:t>5</a:t>
            </a:fld>
            <a:endParaRPr lang="en-US"/>
          </a:p>
        </p:txBody>
      </p:sp>
      <p:sp>
        <p:nvSpPr>
          <p:cNvPr id="11" name="Content Placeholder 1">
            <a:extLst>
              <a:ext uri="{FF2B5EF4-FFF2-40B4-BE49-F238E27FC236}">
                <a16:creationId xmlns:a16="http://schemas.microsoft.com/office/drawing/2014/main" id="{F68F8E2C-0776-311B-0B69-369FBC55C2D3}"/>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089BBC2C-3AB7-A5C7-97AA-346F446D2A2B}"/>
              </a:ext>
            </a:extLst>
          </p:cNvPr>
          <p:cNvSpPr>
            <a:spLocks noGrp="1"/>
          </p:cNvSpPr>
          <p:nvPr>
            <p:ph idx="1"/>
          </p:nvPr>
        </p:nvSpPr>
        <p:spPr>
          <a:xfrm>
            <a:off x="341194" y="1137256"/>
            <a:ext cx="11652428" cy="4908082"/>
          </a:xfrm>
        </p:spPr>
        <p:txBody>
          <a:bodyPr vert="horz" lIns="91440" tIns="45720" rIns="91440" bIns="45720" rtlCol="0" anchor="t">
            <a:noAutofit/>
          </a:bodyPr>
          <a:lstStyle/>
          <a:p>
            <a:pPr marL="0" indent="0">
              <a:buNone/>
            </a:pPr>
            <a:r>
              <a:rPr lang="en-IN" b="1" dirty="0"/>
              <a:t>SDG 2: Zero Hunger</a:t>
            </a:r>
          </a:p>
          <a:p>
            <a:pPr marL="0" indent="0">
              <a:buNone/>
            </a:pPr>
            <a:r>
              <a:rPr lang="en-US" b="1" dirty="0"/>
              <a:t>SDG 8: Decent Work and Economic Growth</a:t>
            </a:r>
          </a:p>
          <a:p>
            <a:pPr marL="0" indent="0">
              <a:buNone/>
            </a:pPr>
            <a:r>
              <a:rPr lang="en-US" b="1" dirty="0"/>
              <a:t>SDG 9: Industry, Innovation, and Infrastructure</a:t>
            </a:r>
          </a:p>
          <a:p>
            <a:pPr marL="0" indent="0">
              <a:buNone/>
            </a:pPr>
            <a:r>
              <a:rPr lang="en-US" b="1" dirty="0"/>
              <a:t>SDG 12: Responsible Consumption and Production</a:t>
            </a:r>
            <a:endParaRPr lang="en-US" dirty="0"/>
          </a:p>
          <a:p>
            <a:pPr marL="0" indent="0">
              <a:buNone/>
            </a:pPr>
            <a:endParaRPr lang="en-US" dirty="0"/>
          </a:p>
          <a:p>
            <a:endParaRPr lang="en-US" dirty="0"/>
          </a:p>
          <a:p>
            <a:endParaRPr lang="en-IN" dirty="0"/>
          </a:p>
          <a:p>
            <a:endParaRPr lang="en-IN" dirty="0"/>
          </a:p>
        </p:txBody>
      </p:sp>
    </p:spTree>
    <p:extLst>
      <p:ext uri="{BB962C8B-B14F-4D97-AF65-F5344CB8AC3E}">
        <p14:creationId xmlns:p14="http://schemas.microsoft.com/office/powerpoint/2010/main" val="1252337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5299" y="147485"/>
            <a:ext cx="11436823" cy="822504"/>
          </a:xfrm>
        </p:spPr>
        <p:txBody>
          <a:bodyPr/>
          <a:lstStyle/>
          <a:p>
            <a:pPr algn="ctr"/>
            <a:r>
              <a:rPr lang="en-US" sz="4500" b="1" dirty="0">
                <a:latin typeface="Georgia"/>
              </a:rPr>
              <a:t>Proposed Methodology</a:t>
            </a:r>
          </a:p>
        </p:txBody>
      </p:sp>
      <p:sp>
        <p:nvSpPr>
          <p:cNvPr id="4" name="Slide Number Placeholder 3"/>
          <p:cNvSpPr>
            <a:spLocks noGrp="1"/>
          </p:cNvSpPr>
          <p:nvPr>
            <p:ph type="sldNum" sz="quarter" idx="12"/>
          </p:nvPr>
        </p:nvSpPr>
        <p:spPr/>
        <p:txBody>
          <a:bodyPr/>
          <a:lstStyle/>
          <a:p>
            <a:fld id="{71766878-3199-4EAB-94E7-2D6D11070E14}" type="slidenum">
              <a:rPr lang="en-US" smtClean="0"/>
              <a:pPr/>
              <a:t>6</a:t>
            </a:fld>
            <a:endParaRPr lang="en-US"/>
          </a:p>
        </p:txBody>
      </p:sp>
      <p:sp>
        <p:nvSpPr>
          <p:cNvPr id="11" name="Content Placeholder 1"/>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CF33BB51-C65D-A18F-D5AF-BE4D74B86707}"/>
              </a:ext>
            </a:extLst>
          </p:cNvPr>
          <p:cNvSpPr>
            <a:spLocks noGrp="1"/>
          </p:cNvSpPr>
          <p:nvPr>
            <p:ph idx="1"/>
          </p:nvPr>
        </p:nvSpPr>
        <p:spPr>
          <a:xfrm>
            <a:off x="495299" y="1163348"/>
            <a:ext cx="10819544" cy="4908082"/>
          </a:xfrm>
        </p:spPr>
        <p:txBody>
          <a:bodyPr vert="horz" lIns="91440" tIns="45720" rIns="91440" bIns="45720" rtlCol="0" anchor="t">
            <a:noAutofit/>
          </a:bodyPr>
          <a:lstStyle/>
          <a:p>
            <a:pPr>
              <a:buFont typeface="Arial"/>
              <a:buChar char="•"/>
            </a:pPr>
            <a:r>
              <a:rPr lang="en-IN" sz="2400" b="1" dirty="0">
                <a:latin typeface="Georgia"/>
              </a:rPr>
              <a:t>Approach:</a:t>
            </a:r>
            <a:r>
              <a:rPr lang="en-IN" sz="2400" dirty="0">
                <a:latin typeface="Georgia"/>
              </a:rPr>
              <a:t> Develop a </a:t>
            </a:r>
            <a:r>
              <a:rPr lang="en-IN" sz="2400" b="1" dirty="0">
                <a:latin typeface="Georgia"/>
              </a:rPr>
              <a:t>Decentralized Application (</a:t>
            </a:r>
            <a:r>
              <a:rPr lang="en-IN" sz="2400" b="1" dirty="0" err="1">
                <a:latin typeface="Georgia"/>
              </a:rPr>
              <a:t>DApp</a:t>
            </a:r>
            <a:r>
              <a:rPr lang="en-IN" sz="2400" b="1" dirty="0">
                <a:latin typeface="Georgia"/>
              </a:rPr>
              <a:t>)</a:t>
            </a:r>
            <a:r>
              <a:rPr lang="en-IN" sz="2400" dirty="0">
                <a:latin typeface="Georgia"/>
              </a:rPr>
              <a:t> prototype.</a:t>
            </a:r>
            <a:endParaRPr lang="en-US" dirty="0"/>
          </a:p>
          <a:p>
            <a:pPr>
              <a:buFont typeface="Arial"/>
              <a:buChar char="•"/>
            </a:pPr>
            <a:r>
              <a:rPr lang="en-IN" sz="2400" b="1" dirty="0">
                <a:latin typeface="Georgia"/>
              </a:rPr>
              <a:t>Blockchain:</a:t>
            </a:r>
            <a:r>
              <a:rPr lang="en-IN" sz="2400" dirty="0">
                <a:latin typeface="Georgia"/>
              </a:rPr>
              <a:t> EVM-compatible network (e.g., </a:t>
            </a:r>
            <a:r>
              <a:rPr lang="en-IN" sz="2400" dirty="0" err="1">
                <a:latin typeface="Georgia"/>
              </a:rPr>
              <a:t>Sepolia</a:t>
            </a:r>
            <a:r>
              <a:rPr lang="en-IN" sz="2400" dirty="0">
                <a:latin typeface="Georgia"/>
              </a:rPr>
              <a:t> </a:t>
            </a:r>
            <a:r>
              <a:rPr lang="en-IN" sz="2400" dirty="0" err="1">
                <a:latin typeface="Georgia"/>
              </a:rPr>
              <a:t>testnet</a:t>
            </a:r>
            <a:r>
              <a:rPr lang="en-IN" sz="2400" dirty="0">
                <a:latin typeface="Georgia"/>
              </a:rPr>
              <a:t>).</a:t>
            </a:r>
            <a:endParaRPr lang="en-IN" dirty="0"/>
          </a:p>
          <a:p>
            <a:pPr>
              <a:buFont typeface="Arial"/>
              <a:buChar char="•"/>
            </a:pPr>
            <a:r>
              <a:rPr lang="en-IN" sz="2400" b="1" dirty="0">
                <a:latin typeface="Georgia"/>
              </a:rPr>
              <a:t>Smart Contract:</a:t>
            </a:r>
            <a:r>
              <a:rPr lang="en-IN" sz="2400" dirty="0">
                <a:latin typeface="Georgia"/>
              </a:rPr>
              <a:t> Core logic in </a:t>
            </a:r>
            <a:r>
              <a:rPr lang="en-IN" sz="2400" b="1" dirty="0">
                <a:latin typeface="Georgia"/>
              </a:rPr>
              <a:t>Solidity</a:t>
            </a:r>
            <a:r>
              <a:rPr lang="en-IN" sz="2400" dirty="0">
                <a:latin typeface="Georgia"/>
              </a:rPr>
              <a:t> (</a:t>
            </a:r>
            <a:r>
              <a:rPr lang="en-IN" sz="2400" dirty="0" err="1">
                <a:latin typeface="Consolas"/>
              </a:rPr>
              <a:t>SupplyChain.sol</a:t>
            </a:r>
            <a:r>
              <a:rPr lang="en-IN" sz="2400" dirty="0">
                <a:latin typeface="Georgia"/>
              </a:rPr>
              <a:t>).</a:t>
            </a:r>
            <a:endParaRPr lang="en-IN" dirty="0"/>
          </a:p>
          <a:p>
            <a:pPr>
              <a:buFont typeface="Arial"/>
              <a:buChar char="•"/>
            </a:pPr>
            <a:r>
              <a:rPr lang="en-IN" sz="2400" b="1" dirty="0">
                <a:latin typeface="Georgia"/>
              </a:rPr>
              <a:t>Frontend:</a:t>
            </a:r>
            <a:r>
              <a:rPr lang="en-IN" sz="2400" dirty="0">
                <a:latin typeface="Georgia"/>
              </a:rPr>
              <a:t> </a:t>
            </a:r>
            <a:r>
              <a:rPr lang="en-IN" sz="2400" b="1" dirty="0">
                <a:latin typeface="Georgia"/>
              </a:rPr>
              <a:t>React</a:t>
            </a:r>
            <a:r>
              <a:rPr lang="en-IN" sz="2400" dirty="0">
                <a:latin typeface="Georgia"/>
              </a:rPr>
              <a:t> framework with </a:t>
            </a:r>
            <a:r>
              <a:rPr lang="en-IN" sz="2400" b="1" dirty="0">
                <a:latin typeface="Consolas"/>
              </a:rPr>
              <a:t>ethers.js</a:t>
            </a:r>
            <a:r>
              <a:rPr lang="en-IN" sz="2400" dirty="0">
                <a:latin typeface="Georgia"/>
              </a:rPr>
              <a:t>.</a:t>
            </a:r>
            <a:endParaRPr lang="en-IN" dirty="0"/>
          </a:p>
          <a:p>
            <a:pPr>
              <a:buFont typeface="Arial"/>
              <a:buChar char="•"/>
            </a:pPr>
            <a:r>
              <a:rPr lang="en-IN" sz="2400" b="1" dirty="0">
                <a:latin typeface="Georgia"/>
              </a:rPr>
              <a:t>Identity &amp; Signing:</a:t>
            </a:r>
            <a:r>
              <a:rPr lang="en-IN" sz="2400" dirty="0">
                <a:latin typeface="Georgia"/>
              </a:rPr>
              <a:t> External </a:t>
            </a:r>
            <a:r>
              <a:rPr lang="en-IN" sz="2400" b="1" dirty="0">
                <a:latin typeface="Georgia"/>
              </a:rPr>
              <a:t>wallets</a:t>
            </a:r>
            <a:r>
              <a:rPr lang="en-IN" sz="2400" dirty="0">
                <a:latin typeface="Georgia"/>
              </a:rPr>
              <a:t> (MetaMask).</a:t>
            </a:r>
            <a:endParaRPr lang="en-IN" dirty="0"/>
          </a:p>
          <a:p>
            <a:pPr>
              <a:buFont typeface="Arial"/>
              <a:buChar char="•"/>
            </a:pPr>
            <a:r>
              <a:rPr lang="en-IN" sz="2400" b="1" dirty="0">
                <a:latin typeface="Georgia"/>
              </a:rPr>
              <a:t>Process:</a:t>
            </a:r>
            <a:r>
              <a:rPr lang="en-IN" sz="2400" dirty="0">
                <a:latin typeface="Georgia"/>
              </a:rPr>
              <a:t> Simulate roles using </a:t>
            </a:r>
            <a:r>
              <a:rPr lang="en-IN" sz="2400" b="1" dirty="0">
                <a:latin typeface="Georgia"/>
              </a:rPr>
              <a:t>placeholder addresses</a:t>
            </a:r>
            <a:r>
              <a:rPr lang="en-IN" sz="2400" dirty="0">
                <a:latin typeface="Georgia"/>
              </a:rPr>
              <a:t> (</a:t>
            </a:r>
            <a:r>
              <a:rPr lang="en-IN" sz="2400" dirty="0">
                <a:latin typeface="Consolas"/>
              </a:rPr>
              <a:t>config.js</a:t>
            </a:r>
            <a:r>
              <a:rPr lang="en-IN" sz="2400" dirty="0">
                <a:latin typeface="Georgia"/>
              </a:rPr>
              <a:t>); use browser </a:t>
            </a:r>
            <a:r>
              <a:rPr lang="en-IN" sz="2400" b="1" dirty="0" err="1">
                <a:latin typeface="Consolas"/>
              </a:rPr>
              <a:t>localStorage</a:t>
            </a:r>
            <a:r>
              <a:rPr lang="en-IN" sz="2400" dirty="0">
                <a:latin typeface="Georgia"/>
              </a:rPr>
              <a:t> for off-chain persistence of initial transaction hashes (prototype simplification).</a:t>
            </a:r>
            <a:endParaRPr lang="en-IN" dirty="0"/>
          </a:p>
          <a:p>
            <a:pPr>
              <a:buNone/>
            </a:pPr>
            <a:endParaRPr lang="en-IN"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A02B5-CFBF-163A-DD4C-77D7B6A1464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8A28236-C175-3E98-6A0C-CED96307D9F3}"/>
              </a:ext>
            </a:extLst>
          </p:cNvPr>
          <p:cNvSpPr>
            <a:spLocks noGrp="1"/>
          </p:cNvSpPr>
          <p:nvPr>
            <p:ph type="title"/>
          </p:nvPr>
        </p:nvSpPr>
        <p:spPr>
          <a:xfrm>
            <a:off x="341194" y="226143"/>
            <a:ext cx="11436823" cy="543960"/>
          </a:xfrm>
        </p:spPr>
        <p:txBody>
          <a:bodyPr/>
          <a:lstStyle/>
          <a:p>
            <a:pPr algn="ctr"/>
            <a:r>
              <a:rPr lang="en-US" sz="4500" b="1" dirty="0">
                <a:latin typeface="Georgia"/>
              </a:rPr>
              <a:t>System Architecture Overview </a:t>
            </a:r>
            <a:endParaRPr lang="en-US" sz="4500" b="1" dirty="0"/>
          </a:p>
        </p:txBody>
      </p:sp>
      <p:sp>
        <p:nvSpPr>
          <p:cNvPr id="4" name="Slide Number Placeholder 3">
            <a:extLst>
              <a:ext uri="{FF2B5EF4-FFF2-40B4-BE49-F238E27FC236}">
                <a16:creationId xmlns:a16="http://schemas.microsoft.com/office/drawing/2014/main" id="{15EF5F38-6B7C-634D-2B69-DEE404F367C1}"/>
              </a:ext>
            </a:extLst>
          </p:cNvPr>
          <p:cNvSpPr>
            <a:spLocks noGrp="1"/>
          </p:cNvSpPr>
          <p:nvPr>
            <p:ph type="sldNum" sz="quarter" idx="12"/>
          </p:nvPr>
        </p:nvSpPr>
        <p:spPr/>
        <p:txBody>
          <a:bodyPr/>
          <a:lstStyle/>
          <a:p>
            <a:fld id="{71766878-3199-4EAB-94E7-2D6D11070E14}" type="slidenum">
              <a:rPr lang="en-US" smtClean="0"/>
              <a:pPr/>
              <a:t>7</a:t>
            </a:fld>
            <a:endParaRPr lang="en-US"/>
          </a:p>
        </p:txBody>
      </p:sp>
      <p:sp>
        <p:nvSpPr>
          <p:cNvPr id="11" name="Content Placeholder 1">
            <a:extLst>
              <a:ext uri="{FF2B5EF4-FFF2-40B4-BE49-F238E27FC236}">
                <a16:creationId xmlns:a16="http://schemas.microsoft.com/office/drawing/2014/main" id="{407CAE84-5584-52A3-3EA9-33430C6C2865}"/>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1F860D96-5246-3F2B-93E9-C959C6490F4E}"/>
              </a:ext>
            </a:extLst>
          </p:cNvPr>
          <p:cNvSpPr>
            <a:spLocks noGrp="1"/>
          </p:cNvSpPr>
          <p:nvPr>
            <p:ph idx="1"/>
          </p:nvPr>
        </p:nvSpPr>
        <p:spPr>
          <a:xfrm>
            <a:off x="649833" y="1137256"/>
            <a:ext cx="10819544" cy="4908082"/>
          </a:xfrm>
        </p:spPr>
        <p:txBody>
          <a:bodyPr vert="horz" lIns="91440" tIns="45720" rIns="91440" bIns="45720" rtlCol="0" anchor="t">
            <a:noAutofit/>
          </a:bodyPr>
          <a:lstStyle/>
          <a:p>
            <a:pPr>
              <a:buFont typeface="Arial"/>
              <a:buChar char="•"/>
            </a:pPr>
            <a:r>
              <a:rPr lang="en-IN" sz="2400" b="1" dirty="0">
                <a:latin typeface="Georgia"/>
              </a:rPr>
              <a:t>Key Layers &amp; Components:</a:t>
            </a:r>
            <a:endParaRPr lang="en-US" sz="2400" dirty="0"/>
          </a:p>
          <a:p>
            <a:pPr>
              <a:buFont typeface="Arial"/>
              <a:buChar char="•"/>
            </a:pPr>
            <a:r>
              <a:rPr lang="en-IN" sz="2400" b="1" dirty="0">
                <a:latin typeface="Georgia"/>
              </a:rPr>
              <a:t>Presentation (UI):</a:t>
            </a:r>
            <a:r>
              <a:rPr lang="en-IN" sz="2400" dirty="0">
                <a:latin typeface="Georgia"/>
              </a:rPr>
              <a:t> React (</a:t>
            </a:r>
            <a:r>
              <a:rPr lang="en-IN" sz="2400" dirty="0">
                <a:latin typeface="Consolas"/>
              </a:rPr>
              <a:t>Home</a:t>
            </a:r>
            <a:r>
              <a:rPr lang="en-IN" sz="2400" dirty="0">
                <a:latin typeface="Georgia"/>
              </a:rPr>
              <a:t>, </a:t>
            </a:r>
            <a:r>
              <a:rPr lang="en-IN" sz="2400" dirty="0">
                <a:latin typeface="Consolas"/>
              </a:rPr>
              <a:t>View</a:t>
            </a:r>
            <a:r>
              <a:rPr lang="en-IN" sz="2400" dirty="0">
                <a:latin typeface="Georgia"/>
              </a:rPr>
              <a:t>, </a:t>
            </a:r>
            <a:r>
              <a:rPr lang="en-IN" sz="2400" dirty="0">
                <a:latin typeface="Consolas"/>
              </a:rPr>
              <a:t>Dashboard</a:t>
            </a:r>
            <a:r>
              <a:rPr lang="en-IN" sz="2400" dirty="0">
                <a:latin typeface="Georgia"/>
              </a:rPr>
              <a:t>).</a:t>
            </a:r>
            <a:endParaRPr lang="en-IN" sz="2400" dirty="0"/>
          </a:p>
          <a:p>
            <a:pPr>
              <a:buFont typeface="Arial"/>
              <a:buChar char="•"/>
            </a:pPr>
            <a:r>
              <a:rPr lang="en-IN" sz="2400" b="1" dirty="0">
                <a:latin typeface="Georgia"/>
              </a:rPr>
              <a:t>Interaction:</a:t>
            </a:r>
            <a:r>
              <a:rPr lang="en-IN" sz="2400" dirty="0">
                <a:latin typeface="Georgia"/>
              </a:rPr>
              <a:t> </a:t>
            </a:r>
            <a:r>
              <a:rPr lang="en-IN" sz="2400" dirty="0">
                <a:latin typeface="Consolas"/>
              </a:rPr>
              <a:t>ethers.js</a:t>
            </a:r>
            <a:r>
              <a:rPr lang="en-IN" sz="2400" dirty="0">
                <a:latin typeface="Georgia"/>
              </a:rPr>
              <a:t> &amp; User Wallet (MetaMask).</a:t>
            </a:r>
            <a:endParaRPr lang="en-IN" sz="2400" dirty="0"/>
          </a:p>
          <a:p>
            <a:pPr>
              <a:buFont typeface="Arial"/>
              <a:buChar char="•"/>
            </a:pPr>
            <a:r>
              <a:rPr lang="en-IN" sz="2400" b="1" dirty="0">
                <a:latin typeface="Georgia"/>
              </a:rPr>
              <a:t>Blockchain:</a:t>
            </a:r>
            <a:r>
              <a:rPr lang="en-IN" sz="2400" dirty="0">
                <a:latin typeface="Georgia"/>
              </a:rPr>
              <a:t> Deployed Smart Contract (</a:t>
            </a:r>
            <a:r>
              <a:rPr lang="en-IN" sz="2400" dirty="0" err="1">
                <a:latin typeface="Consolas"/>
              </a:rPr>
              <a:t>SupplyChain.sol</a:t>
            </a:r>
            <a:r>
              <a:rPr lang="en-IN" sz="2400" dirty="0">
                <a:latin typeface="Georgia"/>
              </a:rPr>
              <a:t>) &amp; Ledger.</a:t>
            </a:r>
            <a:endParaRPr lang="en-IN" sz="2400" dirty="0"/>
          </a:p>
          <a:p>
            <a:pPr>
              <a:buFont typeface="Arial"/>
              <a:buChar char="•"/>
            </a:pPr>
            <a:r>
              <a:rPr lang="en-IN" sz="2400" b="1" dirty="0">
                <a:latin typeface="Georgia"/>
              </a:rPr>
              <a:t>Persistence (Off-Chain):</a:t>
            </a:r>
            <a:r>
              <a:rPr lang="en-IN" sz="2400" dirty="0">
                <a:latin typeface="Georgia"/>
              </a:rPr>
              <a:t> Browser </a:t>
            </a:r>
            <a:r>
              <a:rPr lang="en-IN" sz="2400" dirty="0" err="1">
                <a:latin typeface="Consolas"/>
              </a:rPr>
              <a:t>localStorage</a:t>
            </a:r>
            <a:r>
              <a:rPr lang="en-IN" sz="2400" dirty="0">
                <a:latin typeface="Georgia"/>
              </a:rPr>
              <a:t> (for initial hashes).</a:t>
            </a:r>
            <a:endParaRPr lang="en-IN" sz="2400" dirty="0"/>
          </a:p>
          <a:p>
            <a:pPr>
              <a:buFont typeface="Arial"/>
              <a:buChar char="•"/>
            </a:pPr>
            <a:r>
              <a:rPr lang="en-IN" sz="2400" b="1" dirty="0">
                <a:latin typeface="Georgia"/>
              </a:rPr>
              <a:t>Identity:</a:t>
            </a:r>
            <a:r>
              <a:rPr lang="en-IN" sz="2400" dirty="0">
                <a:latin typeface="Georgia"/>
              </a:rPr>
              <a:t> User Wallets (Key Management &amp; Signing).</a:t>
            </a:r>
            <a:endParaRPr lang="en-IN" dirty="0"/>
          </a:p>
          <a:p>
            <a:pPr marL="0" indent="0">
              <a:buNone/>
            </a:pPr>
            <a:endParaRPr lang="en-IN" sz="2400" b="1" dirty="0"/>
          </a:p>
        </p:txBody>
      </p:sp>
    </p:spTree>
    <p:extLst>
      <p:ext uri="{BB962C8B-B14F-4D97-AF65-F5344CB8AC3E}">
        <p14:creationId xmlns:p14="http://schemas.microsoft.com/office/powerpoint/2010/main" val="3992547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C34A2E6-DBAA-ABDF-889D-DEFE667BD42B}"/>
              </a:ext>
            </a:extLst>
          </p:cNvPr>
          <p:cNvSpPr>
            <a:spLocks noGrp="1"/>
          </p:cNvSpPr>
          <p:nvPr>
            <p:ph type="sldNum" sz="quarter" idx="12"/>
          </p:nvPr>
        </p:nvSpPr>
        <p:spPr/>
        <p:txBody>
          <a:bodyPr/>
          <a:lstStyle/>
          <a:p>
            <a:fld id="{71766878-3199-4EAB-94E7-2D6D11070E14}" type="slidenum">
              <a:rPr lang="en-US" smtClean="0"/>
              <a:pPr/>
              <a:t>8</a:t>
            </a:fld>
            <a:endParaRPr lang="en-US"/>
          </a:p>
        </p:txBody>
      </p:sp>
      <p:pic>
        <p:nvPicPr>
          <p:cNvPr id="8" name="Picture 7">
            <a:extLst>
              <a:ext uri="{FF2B5EF4-FFF2-40B4-BE49-F238E27FC236}">
                <a16:creationId xmlns:a16="http://schemas.microsoft.com/office/drawing/2014/main" id="{E2BFF11D-151F-ED87-8F9B-FFB502D530B3}"/>
              </a:ext>
            </a:extLst>
          </p:cNvPr>
          <p:cNvPicPr>
            <a:picLocks noChangeAspect="1"/>
          </p:cNvPicPr>
          <p:nvPr/>
        </p:nvPicPr>
        <p:blipFill>
          <a:blip r:embed="rId2"/>
          <a:stretch>
            <a:fillRect/>
          </a:stretch>
        </p:blipFill>
        <p:spPr>
          <a:xfrm>
            <a:off x="0" y="2054168"/>
            <a:ext cx="12192000" cy="2749664"/>
          </a:xfrm>
          <a:prstGeom prst="rect">
            <a:avLst/>
          </a:prstGeom>
        </p:spPr>
      </p:pic>
    </p:spTree>
    <p:extLst>
      <p:ext uri="{BB962C8B-B14F-4D97-AF65-F5344CB8AC3E}">
        <p14:creationId xmlns:p14="http://schemas.microsoft.com/office/powerpoint/2010/main" val="3283034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0F942-60E5-8AD9-B247-AA76918C8D2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A66FBF69-67C3-23FA-1123-61E9FECD6D11}"/>
              </a:ext>
            </a:extLst>
          </p:cNvPr>
          <p:cNvSpPr/>
          <p:nvPr/>
        </p:nvSpPr>
        <p:spPr>
          <a:xfrm>
            <a:off x="0" y="-355600"/>
            <a:ext cx="12192000" cy="72136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en-US" sz="4400">
              <a:solidFill>
                <a:prstClr val="white"/>
              </a:solidFill>
              <a:latin typeface="Georgia" panose="02040502050405020303" pitchFamily="18" charset="0"/>
            </a:endParaRPr>
          </a:p>
        </p:txBody>
      </p:sp>
      <p:sp>
        <p:nvSpPr>
          <p:cNvPr id="2" name="Slide Number Placeholder 1">
            <a:extLst>
              <a:ext uri="{FF2B5EF4-FFF2-40B4-BE49-F238E27FC236}">
                <a16:creationId xmlns:a16="http://schemas.microsoft.com/office/drawing/2014/main" id="{9EB2A5B5-0B80-A2F9-851D-2E45D32B8D47}"/>
              </a:ext>
            </a:extLst>
          </p:cNvPr>
          <p:cNvSpPr>
            <a:spLocks noGrp="1"/>
          </p:cNvSpPr>
          <p:nvPr>
            <p:ph type="sldNum" sz="quarter" idx="12"/>
          </p:nvPr>
        </p:nvSpPr>
        <p:spPr/>
        <p:txBody>
          <a:bodyPr/>
          <a:lstStyle/>
          <a:p>
            <a:fld id="{71766878-3199-4EAB-94E7-2D6D11070E14}" type="slidenum">
              <a:rPr lang="en-US" smtClean="0"/>
              <a:pPr/>
              <a:t>9</a:t>
            </a:fld>
            <a:endParaRPr lang="en-US"/>
          </a:p>
        </p:txBody>
      </p:sp>
      <p:sp>
        <p:nvSpPr>
          <p:cNvPr id="10" name="Rectangle 9">
            <a:extLst>
              <a:ext uri="{FF2B5EF4-FFF2-40B4-BE49-F238E27FC236}">
                <a16:creationId xmlns:a16="http://schemas.microsoft.com/office/drawing/2014/main" id="{3691483A-96AF-5ED0-73D3-7410720D7239}"/>
              </a:ext>
            </a:extLst>
          </p:cNvPr>
          <p:cNvSpPr/>
          <p:nvPr/>
        </p:nvSpPr>
        <p:spPr>
          <a:xfrm>
            <a:off x="217729" y="2618721"/>
            <a:ext cx="11487140" cy="1169551"/>
          </a:xfrm>
          <a:prstGeom prst="rect">
            <a:avLst/>
          </a:prstGeom>
          <a:noFill/>
        </p:spPr>
        <p:txBody>
          <a:bodyPr wrap="square" lIns="91440" tIns="45720" rIns="91440" bIns="45720" anchor="t">
            <a:spAutoFit/>
          </a:bodyPr>
          <a:lstStyle/>
          <a:p>
            <a:pPr algn="ctr" defTabSz="914400"/>
            <a:r>
              <a:rPr lang="en-US" sz="7000" dirty="0">
                <a:solidFill>
                  <a:prstClr val="white"/>
                </a:solidFill>
                <a:latin typeface="Georgia"/>
                <a:ea typeface="+mn-lt"/>
                <a:cs typeface="+mn-lt"/>
              </a:rPr>
              <a:t>Literature Review</a:t>
            </a:r>
            <a:endParaRPr lang="en-US" sz="7000" dirty="0">
              <a:solidFill>
                <a:prstClr val="white"/>
              </a:solidFill>
            </a:endParaRPr>
          </a:p>
        </p:txBody>
      </p:sp>
    </p:spTree>
    <p:extLst>
      <p:ext uri="{BB962C8B-B14F-4D97-AF65-F5344CB8AC3E}">
        <p14:creationId xmlns:p14="http://schemas.microsoft.com/office/powerpoint/2010/main" val="28001591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617B1-3F53-6454-4957-D6F9E864607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9D2131-C35A-9BB4-5334-8DFAA3C9C5FC}"/>
              </a:ext>
            </a:extLst>
          </p:cNvPr>
          <p:cNvSpPr>
            <a:spLocks noGrp="1"/>
          </p:cNvSpPr>
          <p:nvPr>
            <p:ph idx="1"/>
          </p:nvPr>
        </p:nvSpPr>
        <p:spPr>
          <a:xfrm>
            <a:off x="341194" y="1907458"/>
            <a:ext cx="11436823" cy="4137880"/>
          </a:xfrm>
        </p:spPr>
        <p:txBody>
          <a:bodyPr/>
          <a:lstStyle/>
          <a:p>
            <a:r>
              <a:rPr lang="en-IN" b="1" dirty="0"/>
              <a:t>Authors: </a:t>
            </a:r>
            <a:r>
              <a:rPr lang="fi-FI" dirty="0"/>
              <a:t>Ashkan Pakseresht, Sina Ahmadi Kaliji, &amp; Karin Hakelius</a:t>
            </a:r>
          </a:p>
          <a:p>
            <a:r>
              <a:rPr lang="en-US" b="1" dirty="0"/>
              <a:t>Journal:</a:t>
            </a:r>
            <a:r>
              <a:rPr lang="en-US" dirty="0"/>
              <a:t> </a:t>
            </a:r>
            <a:r>
              <a:rPr lang="en-IN" i="1" dirty="0"/>
              <a:t>Food Control</a:t>
            </a:r>
            <a:r>
              <a:rPr lang="en-IN" dirty="0"/>
              <a:t> (2024) Q1 journal </a:t>
            </a:r>
            <a:r>
              <a:rPr lang="en-IN" u="sng" dirty="0"/>
              <a:t>https://www.sciencedirect.com/science/article/pii/S0956713524003785</a:t>
            </a:r>
          </a:p>
          <a:p>
            <a:r>
              <a:rPr lang="en-IN" b="1" dirty="0"/>
              <a:t>Short Description: </a:t>
            </a:r>
            <a:r>
              <a:rPr lang="en-IN" dirty="0"/>
              <a:t>It explores </a:t>
            </a:r>
            <a:r>
              <a:rPr lang="en-US" dirty="0"/>
              <a:t>the </a:t>
            </a:r>
            <a:r>
              <a:rPr lang="en-US" b="1" dirty="0"/>
              <a:t>essential, underlying characteristics</a:t>
            </a:r>
            <a:r>
              <a:rPr lang="en-US" dirty="0"/>
              <a:t> of blockchain that are critical for its successful application in the agri-food sector.</a:t>
            </a:r>
          </a:p>
          <a:p>
            <a:r>
              <a:rPr lang="en-US" b="1" dirty="0"/>
              <a:t>The 3 Pillars of BCT in Agri-Food</a:t>
            </a:r>
            <a:r>
              <a:rPr lang="en-IN" b="1" dirty="0"/>
              <a:t>: </a:t>
            </a:r>
            <a:r>
              <a:rPr lang="en-IN" dirty="0"/>
              <a:t>Trust-Evoking</a:t>
            </a:r>
            <a:r>
              <a:rPr lang="en-US" dirty="0"/>
              <a:t>, </a:t>
            </a:r>
            <a:r>
              <a:rPr lang="en-IN" dirty="0"/>
              <a:t>Decentralization, System Integration.</a:t>
            </a:r>
          </a:p>
          <a:p>
            <a:pPr marL="0" indent="0">
              <a:buNone/>
            </a:pPr>
            <a:endParaRPr lang="en-IN" dirty="0"/>
          </a:p>
        </p:txBody>
      </p:sp>
      <p:sp>
        <p:nvSpPr>
          <p:cNvPr id="3" name="Title 2">
            <a:extLst>
              <a:ext uri="{FF2B5EF4-FFF2-40B4-BE49-F238E27FC236}">
                <a16:creationId xmlns:a16="http://schemas.microsoft.com/office/drawing/2014/main" id="{A32D432B-87A3-5632-68BB-60CA0E4CAB31}"/>
              </a:ext>
            </a:extLst>
          </p:cNvPr>
          <p:cNvSpPr>
            <a:spLocks noGrp="1"/>
          </p:cNvSpPr>
          <p:nvPr>
            <p:ph type="title"/>
          </p:nvPr>
        </p:nvSpPr>
        <p:spPr>
          <a:xfrm>
            <a:off x="341194" y="348660"/>
            <a:ext cx="11436823" cy="1322823"/>
          </a:xfrm>
        </p:spPr>
        <p:txBody>
          <a:bodyPr/>
          <a:lstStyle/>
          <a:p>
            <a:r>
              <a:rPr lang="en-US" sz="3600" b="1" dirty="0"/>
              <a:t>Blockchain Technology Characteristics Essential for the Agri-Food Sector</a:t>
            </a:r>
          </a:p>
        </p:txBody>
      </p:sp>
      <p:sp>
        <p:nvSpPr>
          <p:cNvPr id="4" name="Slide Number Placeholder 3">
            <a:extLst>
              <a:ext uri="{FF2B5EF4-FFF2-40B4-BE49-F238E27FC236}">
                <a16:creationId xmlns:a16="http://schemas.microsoft.com/office/drawing/2014/main" id="{593DCEF0-6FFC-BD89-9A2D-31472AEFC68D}"/>
              </a:ext>
            </a:extLst>
          </p:cNvPr>
          <p:cNvSpPr>
            <a:spLocks noGrp="1"/>
          </p:cNvSpPr>
          <p:nvPr>
            <p:ph type="sldNum" sz="quarter" idx="12"/>
          </p:nvPr>
        </p:nvSpPr>
        <p:spPr/>
        <p:txBody>
          <a:bodyPr/>
          <a:lstStyle/>
          <a:p>
            <a:fld id="{71766878-3199-4EAB-94E7-2D6D11070E14}" type="slidenum">
              <a:rPr lang="en-US" smtClean="0"/>
              <a:pPr/>
              <a:t>10</a:t>
            </a:fld>
            <a:endParaRPr lang="en-US"/>
          </a:p>
        </p:txBody>
      </p:sp>
    </p:spTree>
    <p:extLst>
      <p:ext uri="{BB962C8B-B14F-4D97-AF65-F5344CB8AC3E}">
        <p14:creationId xmlns:p14="http://schemas.microsoft.com/office/powerpoint/2010/main" val="2624351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0BC08-07A7-4252-C457-C49964A4899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F671601-B036-9618-B8A8-A7DAFD1E63AD}"/>
              </a:ext>
            </a:extLst>
          </p:cNvPr>
          <p:cNvSpPr>
            <a:spLocks noGrp="1"/>
          </p:cNvSpPr>
          <p:nvPr>
            <p:ph idx="1"/>
          </p:nvPr>
        </p:nvSpPr>
        <p:spPr>
          <a:xfrm>
            <a:off x="341194" y="1907458"/>
            <a:ext cx="11436823" cy="4137880"/>
          </a:xfrm>
        </p:spPr>
        <p:txBody>
          <a:bodyPr/>
          <a:lstStyle/>
          <a:p>
            <a:r>
              <a:rPr lang="en-IN" b="1" dirty="0"/>
              <a:t>Transparency</a:t>
            </a:r>
            <a:endParaRPr lang="en-IN" dirty="0"/>
          </a:p>
          <a:p>
            <a:r>
              <a:rPr lang="en-IN" b="1" dirty="0"/>
              <a:t>Redundancy</a:t>
            </a:r>
            <a:endParaRPr lang="en-IN" dirty="0"/>
          </a:p>
          <a:p>
            <a:r>
              <a:rPr lang="en-IN" b="1" dirty="0"/>
              <a:t>Versatility</a:t>
            </a:r>
          </a:p>
          <a:p>
            <a:r>
              <a:rPr lang="en-IN" b="1" dirty="0"/>
              <a:t>Immutability</a:t>
            </a:r>
          </a:p>
          <a:p>
            <a:r>
              <a:rPr lang="en-IN" b="1" dirty="0"/>
              <a:t>Automation (via Smart Contracts)</a:t>
            </a:r>
          </a:p>
          <a:p>
            <a:r>
              <a:rPr lang="en-IN" b="1" dirty="0"/>
              <a:t>Remittance</a:t>
            </a:r>
          </a:p>
          <a:p>
            <a:endParaRPr lang="en-IN" dirty="0"/>
          </a:p>
          <a:p>
            <a:endParaRPr lang="en-IN" dirty="0"/>
          </a:p>
          <a:p>
            <a:pPr marL="0" indent="0">
              <a:buNone/>
            </a:pPr>
            <a:endParaRPr lang="en-IN" dirty="0"/>
          </a:p>
        </p:txBody>
      </p:sp>
      <p:sp>
        <p:nvSpPr>
          <p:cNvPr id="3" name="Title 2">
            <a:extLst>
              <a:ext uri="{FF2B5EF4-FFF2-40B4-BE49-F238E27FC236}">
                <a16:creationId xmlns:a16="http://schemas.microsoft.com/office/drawing/2014/main" id="{C8F1D8B6-2578-6608-8AE0-A3A411CA9B33}"/>
              </a:ext>
            </a:extLst>
          </p:cNvPr>
          <p:cNvSpPr>
            <a:spLocks noGrp="1"/>
          </p:cNvSpPr>
          <p:nvPr>
            <p:ph type="title"/>
          </p:nvPr>
        </p:nvSpPr>
        <p:spPr>
          <a:xfrm>
            <a:off x="341194" y="348660"/>
            <a:ext cx="11436823" cy="1322823"/>
          </a:xfrm>
        </p:spPr>
        <p:txBody>
          <a:bodyPr/>
          <a:lstStyle/>
          <a:p>
            <a:pPr algn="ctr"/>
            <a:r>
              <a:rPr lang="en-US" sz="4000" b="1" dirty="0"/>
              <a:t>Features Reviewed in the Paper</a:t>
            </a:r>
          </a:p>
        </p:txBody>
      </p:sp>
      <p:sp>
        <p:nvSpPr>
          <p:cNvPr id="4" name="Slide Number Placeholder 3">
            <a:extLst>
              <a:ext uri="{FF2B5EF4-FFF2-40B4-BE49-F238E27FC236}">
                <a16:creationId xmlns:a16="http://schemas.microsoft.com/office/drawing/2014/main" id="{8710449E-B266-107B-21E7-CCAB8C941A0B}"/>
              </a:ext>
            </a:extLst>
          </p:cNvPr>
          <p:cNvSpPr>
            <a:spLocks noGrp="1"/>
          </p:cNvSpPr>
          <p:nvPr>
            <p:ph type="sldNum" sz="quarter" idx="12"/>
          </p:nvPr>
        </p:nvSpPr>
        <p:spPr/>
        <p:txBody>
          <a:bodyPr/>
          <a:lstStyle/>
          <a:p>
            <a:fld id="{71766878-3199-4EAB-94E7-2D6D11070E14}" type="slidenum">
              <a:rPr lang="en-US" smtClean="0"/>
              <a:pPr/>
              <a:t>11</a:t>
            </a:fld>
            <a:endParaRPr lang="en-US"/>
          </a:p>
        </p:txBody>
      </p:sp>
    </p:spTree>
    <p:extLst>
      <p:ext uri="{BB962C8B-B14F-4D97-AF65-F5344CB8AC3E}">
        <p14:creationId xmlns:p14="http://schemas.microsoft.com/office/powerpoint/2010/main" val="2984261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80C7-D271-00F5-08C8-0D96E920E8B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45A5D62-CE9B-11B3-7EA2-CED610547430}"/>
              </a:ext>
            </a:extLst>
          </p:cNvPr>
          <p:cNvSpPr>
            <a:spLocks noGrp="1"/>
          </p:cNvSpPr>
          <p:nvPr>
            <p:ph idx="1"/>
          </p:nvPr>
        </p:nvSpPr>
        <p:spPr>
          <a:xfrm>
            <a:off x="341194" y="1907458"/>
            <a:ext cx="11436823" cy="4137880"/>
          </a:xfrm>
        </p:spPr>
        <p:txBody>
          <a:bodyPr>
            <a:normAutofit fontScale="92500" lnSpcReduction="10000"/>
          </a:bodyPr>
          <a:lstStyle/>
          <a:p>
            <a:r>
              <a:rPr lang="en-US" b="1" dirty="0"/>
              <a:t>Energy Consumption:</a:t>
            </a:r>
            <a:r>
              <a:rPr lang="en-US" dirty="0"/>
              <a:t> The Proof-of-Work (PoW) consensus mechanism (used by Bitcoin) is extremely energy-intensive. This is a major concern for sustainability.</a:t>
            </a:r>
          </a:p>
          <a:p>
            <a:r>
              <a:rPr lang="en-US" b="1" dirty="0"/>
              <a:t>Scalability:</a:t>
            </a:r>
            <a:r>
              <a:rPr lang="en-US" dirty="0"/>
              <a:t> BCT networks can be slow and have trouble processing the massive volume of data from a global supply chain (e.g., millions of IoT sensor readings).</a:t>
            </a:r>
          </a:p>
          <a:p>
            <a:r>
              <a:rPr lang="en-US" b="1" dirty="0"/>
              <a:t>Interoperability:</a:t>
            </a:r>
            <a:r>
              <a:rPr lang="en-US" dirty="0"/>
              <a:t> How do you make different blockchain systems (e.g., one for shipping, one for farming) talk to each other and to existing "legacy" IT systems.</a:t>
            </a:r>
          </a:p>
          <a:p>
            <a:r>
              <a:rPr lang="en-US" b="1" dirty="0"/>
              <a:t>Legal &amp; Regulatory:</a:t>
            </a:r>
            <a:r>
              <a:rPr lang="en-US" dirty="0"/>
              <a:t> Smart contracts are not yet fully recognized as legally binding agreements in most jurisdictions.</a:t>
            </a:r>
          </a:p>
          <a:p>
            <a:endParaRPr lang="en-IN" dirty="0"/>
          </a:p>
          <a:p>
            <a:pPr marL="0" indent="0">
              <a:buNone/>
            </a:pPr>
            <a:endParaRPr lang="en-IN" dirty="0"/>
          </a:p>
          <a:p>
            <a:pPr marL="0" indent="0">
              <a:buNone/>
            </a:pPr>
            <a:endParaRPr lang="en-IN" dirty="0"/>
          </a:p>
        </p:txBody>
      </p:sp>
      <p:sp>
        <p:nvSpPr>
          <p:cNvPr id="3" name="Title 2">
            <a:extLst>
              <a:ext uri="{FF2B5EF4-FFF2-40B4-BE49-F238E27FC236}">
                <a16:creationId xmlns:a16="http://schemas.microsoft.com/office/drawing/2014/main" id="{0146D62C-0F79-B2E1-5337-33230D5A51C1}"/>
              </a:ext>
            </a:extLst>
          </p:cNvPr>
          <p:cNvSpPr>
            <a:spLocks noGrp="1"/>
          </p:cNvSpPr>
          <p:nvPr>
            <p:ph type="title"/>
          </p:nvPr>
        </p:nvSpPr>
        <p:spPr>
          <a:xfrm>
            <a:off x="341194" y="348660"/>
            <a:ext cx="11436823" cy="1322823"/>
          </a:xfrm>
        </p:spPr>
        <p:txBody>
          <a:bodyPr/>
          <a:lstStyle/>
          <a:p>
            <a:pPr algn="ctr"/>
            <a:r>
              <a:rPr lang="en-US" sz="4000" b="1" dirty="0"/>
              <a:t>Challenges and Future Scope</a:t>
            </a:r>
          </a:p>
        </p:txBody>
      </p:sp>
      <p:sp>
        <p:nvSpPr>
          <p:cNvPr id="4" name="Slide Number Placeholder 3">
            <a:extLst>
              <a:ext uri="{FF2B5EF4-FFF2-40B4-BE49-F238E27FC236}">
                <a16:creationId xmlns:a16="http://schemas.microsoft.com/office/drawing/2014/main" id="{67D517FC-0E37-2B5F-B7D3-5D37EB6370C2}"/>
              </a:ext>
            </a:extLst>
          </p:cNvPr>
          <p:cNvSpPr>
            <a:spLocks noGrp="1"/>
          </p:cNvSpPr>
          <p:nvPr>
            <p:ph type="sldNum" sz="quarter" idx="12"/>
          </p:nvPr>
        </p:nvSpPr>
        <p:spPr/>
        <p:txBody>
          <a:bodyPr/>
          <a:lstStyle/>
          <a:p>
            <a:fld id="{71766878-3199-4EAB-94E7-2D6D11070E14}" type="slidenum">
              <a:rPr lang="en-US" smtClean="0"/>
              <a:pPr/>
              <a:t>12</a:t>
            </a:fld>
            <a:endParaRPr lang="en-US"/>
          </a:p>
        </p:txBody>
      </p:sp>
    </p:spTree>
    <p:extLst>
      <p:ext uri="{BB962C8B-B14F-4D97-AF65-F5344CB8AC3E}">
        <p14:creationId xmlns:p14="http://schemas.microsoft.com/office/powerpoint/2010/main" val="2163914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38767-F9E3-8BB5-85FA-5AA052E762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411888D-8A03-7E91-5526-00897FD11F0F}"/>
              </a:ext>
            </a:extLst>
          </p:cNvPr>
          <p:cNvSpPr>
            <a:spLocks noGrp="1"/>
          </p:cNvSpPr>
          <p:nvPr>
            <p:ph idx="1"/>
          </p:nvPr>
        </p:nvSpPr>
        <p:spPr>
          <a:xfrm>
            <a:off x="341194" y="1907458"/>
            <a:ext cx="11436823" cy="4137880"/>
          </a:xfrm>
        </p:spPr>
        <p:txBody>
          <a:bodyPr>
            <a:normAutofit fontScale="92500" lnSpcReduction="20000"/>
          </a:bodyPr>
          <a:lstStyle/>
          <a:p>
            <a:r>
              <a:rPr lang="en-IN" b="1" dirty="0"/>
              <a:t>Authors: </a:t>
            </a:r>
            <a:r>
              <a:rPr lang="en-IN" dirty="0"/>
              <a:t>Antonio Villafranca et al.</a:t>
            </a:r>
          </a:p>
          <a:p>
            <a:r>
              <a:rPr lang="en-US" b="1" dirty="0"/>
              <a:t>Journal:</a:t>
            </a:r>
            <a:r>
              <a:rPr lang="en-US" dirty="0"/>
              <a:t> </a:t>
            </a:r>
            <a:r>
              <a:rPr lang="en-US" i="1" dirty="0"/>
              <a:t>Simulation Modelling Practice and Theory (2025) </a:t>
            </a:r>
          </a:p>
          <a:p>
            <a:r>
              <a:rPr lang="en-US" u="sng" dirty="0"/>
              <a:t>https://www.sciencedirect.com/science/article/pii/S1569190X25000668</a:t>
            </a:r>
          </a:p>
          <a:p>
            <a:r>
              <a:rPr lang="en-IN" b="1" dirty="0"/>
              <a:t>Short Description: </a:t>
            </a:r>
            <a:r>
              <a:rPr lang="en-US" dirty="0"/>
              <a:t>It explores the need for reliable traceability in smart agriculture by securely managing large volumes of IoT-generated data.</a:t>
            </a:r>
          </a:p>
          <a:p>
            <a:r>
              <a:rPr lang="en-US" dirty="0"/>
              <a:t>The study compares traditional </a:t>
            </a:r>
            <a:r>
              <a:rPr lang="en-US" b="1" dirty="0"/>
              <a:t>blockchains</a:t>
            </a:r>
            <a:r>
              <a:rPr lang="en-US" dirty="0"/>
              <a:t> (Bitcoin, Ethereum) and </a:t>
            </a:r>
            <a:r>
              <a:rPr lang="en-US" b="1" dirty="0"/>
              <a:t>DAG-based systems</a:t>
            </a:r>
            <a:r>
              <a:rPr lang="en-US" dirty="0"/>
              <a:t> (like IOTA’s Tangle) to evaluate their performance in agricultural traceability.</a:t>
            </a:r>
          </a:p>
          <a:p>
            <a:r>
              <a:rPr lang="en-US" dirty="0"/>
              <a:t>Through simulation, it measures efficiency—defined by </a:t>
            </a:r>
            <a:r>
              <a:rPr lang="en-US" b="1" dirty="0"/>
              <a:t>low latency and inclusion time</a:t>
            </a:r>
            <a:r>
              <a:rPr lang="en-US" dirty="0"/>
              <a:t>—to identify which distributed ledger technology best supports scalable, transparent farm-to-consumer tracking.</a:t>
            </a:r>
            <a:endParaRPr lang="en-IN" b="1" dirty="0"/>
          </a:p>
        </p:txBody>
      </p:sp>
      <p:sp>
        <p:nvSpPr>
          <p:cNvPr id="3" name="Title 2">
            <a:extLst>
              <a:ext uri="{FF2B5EF4-FFF2-40B4-BE49-F238E27FC236}">
                <a16:creationId xmlns:a16="http://schemas.microsoft.com/office/drawing/2014/main" id="{F01ABA0F-E174-611D-A3F5-61F4C06F4DA8}"/>
              </a:ext>
            </a:extLst>
          </p:cNvPr>
          <p:cNvSpPr>
            <a:spLocks noGrp="1"/>
          </p:cNvSpPr>
          <p:nvPr>
            <p:ph type="title"/>
          </p:nvPr>
        </p:nvSpPr>
        <p:spPr>
          <a:xfrm>
            <a:off x="341194" y="147484"/>
            <a:ext cx="11436823" cy="1523999"/>
          </a:xfrm>
        </p:spPr>
        <p:txBody>
          <a:bodyPr/>
          <a:lstStyle/>
          <a:p>
            <a:r>
              <a:rPr lang="en-US" sz="3600" b="1" dirty="0"/>
              <a:t>Comparing Blockchain and DAG Technologies for Smart Agriculture Traceability in Terms of Efficiency and Latency</a:t>
            </a:r>
          </a:p>
        </p:txBody>
      </p:sp>
      <p:sp>
        <p:nvSpPr>
          <p:cNvPr id="4" name="Slide Number Placeholder 3">
            <a:extLst>
              <a:ext uri="{FF2B5EF4-FFF2-40B4-BE49-F238E27FC236}">
                <a16:creationId xmlns:a16="http://schemas.microsoft.com/office/drawing/2014/main" id="{9CE9006D-AAC7-AA71-1C09-9EF9C09F0F59}"/>
              </a:ext>
            </a:extLst>
          </p:cNvPr>
          <p:cNvSpPr>
            <a:spLocks noGrp="1"/>
          </p:cNvSpPr>
          <p:nvPr>
            <p:ph type="sldNum" sz="quarter" idx="12"/>
          </p:nvPr>
        </p:nvSpPr>
        <p:spPr/>
        <p:txBody>
          <a:bodyPr/>
          <a:lstStyle/>
          <a:p>
            <a:fld id="{71766878-3199-4EAB-94E7-2D6D11070E14}" type="slidenum">
              <a:rPr lang="en-US" smtClean="0"/>
              <a:pPr/>
              <a:t>13</a:t>
            </a:fld>
            <a:endParaRPr lang="en-US"/>
          </a:p>
        </p:txBody>
      </p:sp>
    </p:spTree>
    <p:extLst>
      <p:ext uri="{BB962C8B-B14F-4D97-AF65-F5344CB8AC3E}">
        <p14:creationId xmlns:p14="http://schemas.microsoft.com/office/powerpoint/2010/main" val="1214071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8E09F-506B-8F7B-226D-37D6D3C041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5C417A-F624-1B9A-4FD0-996739A4633F}"/>
              </a:ext>
            </a:extLst>
          </p:cNvPr>
          <p:cNvSpPr>
            <a:spLocks noGrp="1"/>
          </p:cNvSpPr>
          <p:nvPr>
            <p:ph idx="1"/>
          </p:nvPr>
        </p:nvSpPr>
        <p:spPr>
          <a:xfrm>
            <a:off x="341194" y="1671483"/>
            <a:ext cx="11436823" cy="4137880"/>
          </a:xfrm>
        </p:spPr>
        <p:txBody>
          <a:bodyPr>
            <a:noAutofit/>
          </a:bodyPr>
          <a:lstStyle/>
          <a:p>
            <a:pPr marL="514350" indent="-514350">
              <a:buFont typeface="+mj-lt"/>
              <a:buAutoNum type="arabicPeriod"/>
            </a:pPr>
            <a:endParaRPr lang="en-IN" sz="2400" dirty="0"/>
          </a:p>
          <a:p>
            <a:pPr marL="0" indent="0">
              <a:buNone/>
            </a:pPr>
            <a:endParaRPr lang="en-IN" sz="2400" dirty="0"/>
          </a:p>
          <a:p>
            <a:pPr marL="514350" indent="-514350">
              <a:buFont typeface="+mj-lt"/>
              <a:buAutoNum type="arabicPeriod"/>
            </a:pPr>
            <a:endParaRPr lang="en-US" sz="2300" dirty="0"/>
          </a:p>
          <a:p>
            <a:pPr marL="514350" indent="-514350">
              <a:buFont typeface="+mj-lt"/>
              <a:buAutoNum type="arabicPeriod"/>
            </a:pPr>
            <a:endParaRPr lang="en-US" sz="2300" dirty="0"/>
          </a:p>
          <a:p>
            <a:endParaRPr lang="en-IN" sz="2300" b="1" dirty="0"/>
          </a:p>
          <a:p>
            <a:endParaRPr lang="en-IN" sz="2300" b="1" dirty="0"/>
          </a:p>
        </p:txBody>
      </p:sp>
      <p:sp>
        <p:nvSpPr>
          <p:cNvPr id="3" name="Title 2">
            <a:extLst>
              <a:ext uri="{FF2B5EF4-FFF2-40B4-BE49-F238E27FC236}">
                <a16:creationId xmlns:a16="http://schemas.microsoft.com/office/drawing/2014/main" id="{C8E00235-5C3E-7538-C195-07AC710AB58E}"/>
              </a:ext>
            </a:extLst>
          </p:cNvPr>
          <p:cNvSpPr>
            <a:spLocks noGrp="1"/>
          </p:cNvSpPr>
          <p:nvPr>
            <p:ph type="title"/>
          </p:nvPr>
        </p:nvSpPr>
        <p:spPr>
          <a:xfrm>
            <a:off x="341194" y="348660"/>
            <a:ext cx="11436823" cy="1322823"/>
          </a:xfrm>
        </p:spPr>
        <p:txBody>
          <a:bodyPr/>
          <a:lstStyle/>
          <a:p>
            <a:pPr algn="ctr"/>
            <a:r>
              <a:rPr lang="en-IN" sz="4500" b="1" dirty="0"/>
              <a:t>Simulation Results</a:t>
            </a:r>
          </a:p>
        </p:txBody>
      </p:sp>
      <p:sp>
        <p:nvSpPr>
          <p:cNvPr id="4" name="Slide Number Placeholder 3">
            <a:extLst>
              <a:ext uri="{FF2B5EF4-FFF2-40B4-BE49-F238E27FC236}">
                <a16:creationId xmlns:a16="http://schemas.microsoft.com/office/drawing/2014/main" id="{BEE4BE17-7840-962F-29DB-0FCE1052FE32}"/>
              </a:ext>
            </a:extLst>
          </p:cNvPr>
          <p:cNvSpPr>
            <a:spLocks noGrp="1"/>
          </p:cNvSpPr>
          <p:nvPr>
            <p:ph type="sldNum" sz="quarter" idx="12"/>
          </p:nvPr>
        </p:nvSpPr>
        <p:spPr/>
        <p:txBody>
          <a:bodyPr/>
          <a:lstStyle/>
          <a:p>
            <a:fld id="{71766878-3199-4EAB-94E7-2D6D11070E14}" type="slidenum">
              <a:rPr lang="en-US" smtClean="0"/>
              <a:pPr/>
              <a:t>14</a:t>
            </a:fld>
            <a:endParaRPr lang="en-US"/>
          </a:p>
        </p:txBody>
      </p:sp>
      <p:pic>
        <p:nvPicPr>
          <p:cNvPr id="8" name="Picture 7">
            <a:extLst>
              <a:ext uri="{FF2B5EF4-FFF2-40B4-BE49-F238E27FC236}">
                <a16:creationId xmlns:a16="http://schemas.microsoft.com/office/drawing/2014/main" id="{01EE7855-2EE0-995D-76F9-35FDB446445E}"/>
              </a:ext>
            </a:extLst>
          </p:cNvPr>
          <p:cNvPicPr>
            <a:picLocks noChangeAspect="1"/>
          </p:cNvPicPr>
          <p:nvPr/>
        </p:nvPicPr>
        <p:blipFill>
          <a:blip r:embed="rId2"/>
          <a:stretch>
            <a:fillRect/>
          </a:stretch>
        </p:blipFill>
        <p:spPr>
          <a:xfrm>
            <a:off x="230136" y="1952625"/>
            <a:ext cx="11220450" cy="2952750"/>
          </a:xfrm>
          <a:prstGeom prst="rect">
            <a:avLst/>
          </a:prstGeom>
        </p:spPr>
      </p:pic>
      <p:sp>
        <p:nvSpPr>
          <p:cNvPr id="10" name="TextBox 9">
            <a:extLst>
              <a:ext uri="{FF2B5EF4-FFF2-40B4-BE49-F238E27FC236}">
                <a16:creationId xmlns:a16="http://schemas.microsoft.com/office/drawing/2014/main" id="{74081DC8-E481-F9C1-973F-1D42670FFF04}"/>
              </a:ext>
            </a:extLst>
          </p:cNvPr>
          <p:cNvSpPr txBox="1"/>
          <p:nvPr/>
        </p:nvSpPr>
        <p:spPr>
          <a:xfrm>
            <a:off x="3006688" y="4943728"/>
            <a:ext cx="6373285" cy="1200329"/>
          </a:xfrm>
          <a:prstGeom prst="rect">
            <a:avLst/>
          </a:prstGeom>
          <a:noFill/>
        </p:spPr>
        <p:txBody>
          <a:bodyPr wrap="square">
            <a:spAutoFit/>
          </a:bodyPr>
          <a:lstStyle/>
          <a:p>
            <a:pPr>
              <a:buNone/>
            </a:pPr>
            <a:r>
              <a:rPr lang="en-US" b="1" dirty="0"/>
              <a:t>Key Takeaway:</a:t>
            </a:r>
            <a:r>
              <a:rPr lang="en-US" dirty="0"/>
              <a:t> DAG consistently offers the lowest transaction inclusion times across all tested loads and latencies. Ethereum is significantly faster than Bitcoin. Bitcoin struggles significantly with load and latency.</a:t>
            </a:r>
          </a:p>
        </p:txBody>
      </p:sp>
    </p:spTree>
    <p:extLst>
      <p:ext uri="{BB962C8B-B14F-4D97-AF65-F5344CB8AC3E}">
        <p14:creationId xmlns:p14="http://schemas.microsoft.com/office/powerpoint/2010/main" val="3602114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5E8F-00B5-C673-67EE-B23C3CC4BA3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1EBBED8-0F8D-6946-0E56-444933659EAB}"/>
              </a:ext>
            </a:extLst>
          </p:cNvPr>
          <p:cNvSpPr>
            <a:spLocks noGrp="1"/>
          </p:cNvSpPr>
          <p:nvPr>
            <p:ph idx="1"/>
          </p:nvPr>
        </p:nvSpPr>
        <p:spPr>
          <a:xfrm>
            <a:off x="341194" y="1671483"/>
            <a:ext cx="11436823" cy="4137880"/>
          </a:xfrm>
        </p:spPr>
        <p:txBody>
          <a:bodyPr>
            <a:noAutofit/>
          </a:bodyPr>
          <a:lstStyle/>
          <a:p>
            <a:pPr marL="514350" indent="-514350">
              <a:buFont typeface="+mj-lt"/>
              <a:buAutoNum type="arabicPeriod"/>
            </a:pPr>
            <a:r>
              <a:rPr lang="en-US" sz="2500" b="1" dirty="0"/>
              <a:t>Ethereum </a:t>
            </a:r>
            <a:r>
              <a:rPr lang="en-US" sz="2500" dirty="0"/>
              <a:t>is a great option especially with PoS and L2 scaling, but DAG shows better raw performance in the performed simulations. Smart contracts remain a key advantage.</a:t>
            </a:r>
          </a:p>
          <a:p>
            <a:pPr marL="514350" indent="-514350">
              <a:buFont typeface="+mj-lt"/>
              <a:buAutoNum type="arabicPeriod"/>
            </a:pPr>
            <a:r>
              <a:rPr lang="en-US" sz="2500" b="1" dirty="0"/>
              <a:t>DAG's Suitability:</a:t>
            </a:r>
            <a:r>
              <a:rPr lang="en-US" sz="2500" dirty="0"/>
              <a:t> The results strongly suggest DAG architectures are better suited for the high-volume, low-latency demands of IoT-based smart agriculture traceability than traditional blockchains like Bitcoin or Ethereum.</a:t>
            </a:r>
          </a:p>
          <a:p>
            <a:pPr marL="514350" indent="-514350">
              <a:buFont typeface="+mj-lt"/>
              <a:buAutoNum type="arabicPeriod"/>
            </a:pPr>
            <a:r>
              <a:rPr lang="en-US" sz="2400" b="1" dirty="0"/>
              <a:t>Bitcoin:</a:t>
            </a:r>
            <a:r>
              <a:rPr lang="en-US" sz="2400" dirty="0"/>
              <a:t> Too slow and sensitive for smart agriculture application. Security is high but performance is prohibitive.</a:t>
            </a:r>
            <a:endParaRPr lang="en-US" sz="2500" dirty="0"/>
          </a:p>
          <a:p>
            <a:pPr marL="514350" indent="-514350">
              <a:buFont typeface="+mj-lt"/>
              <a:buAutoNum type="arabicPeriod"/>
            </a:pPr>
            <a:endParaRPr lang="en-US" sz="2500" dirty="0"/>
          </a:p>
          <a:p>
            <a:endParaRPr lang="en-IN" sz="2500" b="1" dirty="0"/>
          </a:p>
          <a:p>
            <a:endParaRPr lang="en-IN" sz="2500" b="1" dirty="0"/>
          </a:p>
        </p:txBody>
      </p:sp>
      <p:sp>
        <p:nvSpPr>
          <p:cNvPr id="3" name="Title 2">
            <a:extLst>
              <a:ext uri="{FF2B5EF4-FFF2-40B4-BE49-F238E27FC236}">
                <a16:creationId xmlns:a16="http://schemas.microsoft.com/office/drawing/2014/main" id="{0F170398-17E9-4CFC-7714-191F5DB4A675}"/>
              </a:ext>
            </a:extLst>
          </p:cNvPr>
          <p:cNvSpPr>
            <a:spLocks noGrp="1"/>
          </p:cNvSpPr>
          <p:nvPr>
            <p:ph type="title"/>
          </p:nvPr>
        </p:nvSpPr>
        <p:spPr>
          <a:xfrm>
            <a:off x="341194" y="348660"/>
            <a:ext cx="11436823" cy="1322823"/>
          </a:xfrm>
        </p:spPr>
        <p:txBody>
          <a:bodyPr/>
          <a:lstStyle/>
          <a:p>
            <a:pPr algn="ctr"/>
            <a:r>
              <a:rPr lang="en-IN" sz="4500" b="1" dirty="0"/>
              <a:t>Key Takeaways</a:t>
            </a:r>
          </a:p>
        </p:txBody>
      </p:sp>
      <p:sp>
        <p:nvSpPr>
          <p:cNvPr id="4" name="Slide Number Placeholder 3">
            <a:extLst>
              <a:ext uri="{FF2B5EF4-FFF2-40B4-BE49-F238E27FC236}">
                <a16:creationId xmlns:a16="http://schemas.microsoft.com/office/drawing/2014/main" id="{4C568F79-FA72-F22B-23BC-E91876017469}"/>
              </a:ext>
            </a:extLst>
          </p:cNvPr>
          <p:cNvSpPr>
            <a:spLocks noGrp="1"/>
          </p:cNvSpPr>
          <p:nvPr>
            <p:ph type="sldNum" sz="quarter" idx="12"/>
          </p:nvPr>
        </p:nvSpPr>
        <p:spPr/>
        <p:txBody>
          <a:bodyPr/>
          <a:lstStyle/>
          <a:p>
            <a:fld id="{71766878-3199-4EAB-94E7-2D6D11070E14}" type="slidenum">
              <a:rPr lang="en-US" smtClean="0"/>
              <a:pPr/>
              <a:t>15</a:t>
            </a:fld>
            <a:endParaRPr lang="en-US"/>
          </a:p>
        </p:txBody>
      </p:sp>
    </p:spTree>
    <p:extLst>
      <p:ext uri="{BB962C8B-B14F-4D97-AF65-F5344CB8AC3E}">
        <p14:creationId xmlns:p14="http://schemas.microsoft.com/office/powerpoint/2010/main" val="20839961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46C11-B56B-C4AC-04F0-6C60479E5B8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0C6DFA-62BD-B021-7470-98B7F729E42F}"/>
              </a:ext>
            </a:extLst>
          </p:cNvPr>
          <p:cNvSpPr>
            <a:spLocks noGrp="1"/>
          </p:cNvSpPr>
          <p:nvPr>
            <p:ph idx="1"/>
          </p:nvPr>
        </p:nvSpPr>
        <p:spPr>
          <a:xfrm>
            <a:off x="341194" y="1671483"/>
            <a:ext cx="11436823" cy="4137880"/>
          </a:xfrm>
        </p:spPr>
        <p:txBody>
          <a:bodyPr>
            <a:noAutofit/>
          </a:bodyPr>
          <a:lstStyle/>
          <a:p>
            <a:r>
              <a:rPr lang="en-US" sz="2300" b="1" dirty="0"/>
              <a:t>Efficiency Metric:</a:t>
            </a:r>
            <a:r>
              <a:rPr lang="en-US" sz="2300" dirty="0"/>
              <a:t> Focused only on inclusion time/latency, not throughput under stress, energy use, or storage costs.</a:t>
            </a:r>
          </a:p>
          <a:p>
            <a:r>
              <a:rPr lang="en-US" sz="2300" b="1" dirty="0"/>
              <a:t>Load Levels:</a:t>
            </a:r>
            <a:r>
              <a:rPr lang="en-US" sz="2300" dirty="0"/>
              <a:t> Tested loads (max 60 </a:t>
            </a:r>
            <a:r>
              <a:rPr lang="en-US" sz="2300" dirty="0" err="1"/>
              <a:t>tx</a:t>
            </a:r>
            <a:r>
              <a:rPr lang="en-US" sz="2300" dirty="0"/>
              <a:t>/day) are low compared to maximum potential IoT data rates.</a:t>
            </a:r>
          </a:p>
          <a:p>
            <a:r>
              <a:rPr lang="en-US" sz="2300" b="1" dirty="0"/>
              <a:t>Consensus/Security:</a:t>
            </a:r>
            <a:r>
              <a:rPr lang="en-US" sz="2300" dirty="0"/>
              <a:t> Assumed honest nodes; didn't model attacks (e.g., double-spending in DAG). Didn't compare PoS Ethereum or other DAG variants.</a:t>
            </a:r>
          </a:p>
          <a:p>
            <a:r>
              <a:rPr lang="en-US" sz="2300" b="1" dirty="0"/>
              <a:t>Network Model:</a:t>
            </a:r>
            <a:r>
              <a:rPr lang="en-US" sz="2300" dirty="0"/>
              <a:t> Used fixed latencies, not variable real-world network conditions. Assumed homogeneous hardware.</a:t>
            </a:r>
          </a:p>
          <a:p>
            <a:r>
              <a:rPr lang="en-US" sz="2300" b="1" dirty="0"/>
              <a:t>Data Scope:</a:t>
            </a:r>
            <a:r>
              <a:rPr lang="en-US" sz="2300" dirty="0"/>
              <a:t> Based on one crop cycle; generalizability needs more testing.</a:t>
            </a:r>
          </a:p>
          <a:p>
            <a:r>
              <a:rPr lang="en-US" sz="2300" b="1" dirty="0"/>
              <a:t>DAG Searchability:</a:t>
            </a:r>
            <a:r>
              <a:rPr lang="en-US" sz="2300" dirty="0"/>
              <a:t> Notes that retrieving specific data from a DAG structure can be complex, potentially hindering practical traceability queries.</a:t>
            </a:r>
          </a:p>
          <a:p>
            <a:pPr marL="514350" indent="-514350">
              <a:buFont typeface="+mj-lt"/>
              <a:buAutoNum type="arabicPeriod"/>
            </a:pPr>
            <a:endParaRPr lang="en-US" sz="2300" dirty="0"/>
          </a:p>
          <a:p>
            <a:endParaRPr lang="en-IN" sz="2300" b="1" dirty="0"/>
          </a:p>
          <a:p>
            <a:endParaRPr lang="en-IN" sz="2300" b="1" dirty="0"/>
          </a:p>
        </p:txBody>
      </p:sp>
      <p:sp>
        <p:nvSpPr>
          <p:cNvPr id="3" name="Title 2">
            <a:extLst>
              <a:ext uri="{FF2B5EF4-FFF2-40B4-BE49-F238E27FC236}">
                <a16:creationId xmlns:a16="http://schemas.microsoft.com/office/drawing/2014/main" id="{0004F539-01E0-C475-8277-68F1CD5EFE6D}"/>
              </a:ext>
            </a:extLst>
          </p:cNvPr>
          <p:cNvSpPr>
            <a:spLocks noGrp="1"/>
          </p:cNvSpPr>
          <p:nvPr>
            <p:ph type="title"/>
          </p:nvPr>
        </p:nvSpPr>
        <p:spPr>
          <a:xfrm>
            <a:off x="341194" y="348660"/>
            <a:ext cx="11436823" cy="1322823"/>
          </a:xfrm>
        </p:spPr>
        <p:txBody>
          <a:bodyPr/>
          <a:lstStyle/>
          <a:p>
            <a:pPr algn="ctr"/>
            <a:r>
              <a:rPr lang="en-IN" sz="4500" b="1" dirty="0"/>
              <a:t>Limitations</a:t>
            </a:r>
          </a:p>
        </p:txBody>
      </p:sp>
      <p:sp>
        <p:nvSpPr>
          <p:cNvPr id="4" name="Slide Number Placeholder 3">
            <a:extLst>
              <a:ext uri="{FF2B5EF4-FFF2-40B4-BE49-F238E27FC236}">
                <a16:creationId xmlns:a16="http://schemas.microsoft.com/office/drawing/2014/main" id="{0B9271BE-94A9-4DE6-8819-E588F3D37E24}"/>
              </a:ext>
            </a:extLst>
          </p:cNvPr>
          <p:cNvSpPr>
            <a:spLocks noGrp="1"/>
          </p:cNvSpPr>
          <p:nvPr>
            <p:ph type="sldNum" sz="quarter" idx="12"/>
          </p:nvPr>
        </p:nvSpPr>
        <p:spPr/>
        <p:txBody>
          <a:bodyPr/>
          <a:lstStyle/>
          <a:p>
            <a:fld id="{71766878-3199-4EAB-94E7-2D6D11070E14}" type="slidenum">
              <a:rPr lang="en-US" smtClean="0"/>
              <a:pPr/>
              <a:t>16</a:t>
            </a:fld>
            <a:endParaRPr lang="en-US"/>
          </a:p>
        </p:txBody>
      </p:sp>
    </p:spTree>
    <p:extLst>
      <p:ext uri="{BB962C8B-B14F-4D97-AF65-F5344CB8AC3E}">
        <p14:creationId xmlns:p14="http://schemas.microsoft.com/office/powerpoint/2010/main" val="178436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F16FF-749C-B196-B8D2-827C0C5D8FB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8C6A9B-DA89-0C0E-C07C-8CF43E83BE0B}"/>
              </a:ext>
            </a:extLst>
          </p:cNvPr>
          <p:cNvSpPr>
            <a:spLocks noGrp="1"/>
          </p:cNvSpPr>
          <p:nvPr>
            <p:ph idx="1"/>
          </p:nvPr>
        </p:nvSpPr>
        <p:spPr>
          <a:xfrm>
            <a:off x="341194" y="1907458"/>
            <a:ext cx="11436823" cy="4137880"/>
          </a:xfrm>
        </p:spPr>
        <p:txBody>
          <a:bodyPr>
            <a:normAutofit fontScale="92500"/>
          </a:bodyPr>
          <a:lstStyle/>
          <a:p>
            <a:r>
              <a:rPr lang="en-IN" b="1" dirty="0"/>
              <a:t>Authors: </a:t>
            </a:r>
            <a:r>
              <a:rPr lang="es-ES" dirty="0" err="1"/>
              <a:t>Adil</a:t>
            </a:r>
            <a:r>
              <a:rPr lang="es-ES" dirty="0"/>
              <a:t> El Mane, </a:t>
            </a:r>
            <a:r>
              <a:rPr lang="es-ES" dirty="0" err="1"/>
              <a:t>Khalid</a:t>
            </a:r>
            <a:r>
              <a:rPr lang="es-ES" dirty="0"/>
              <a:t> </a:t>
            </a:r>
            <a:r>
              <a:rPr lang="es-ES" dirty="0" err="1"/>
              <a:t>Tatane</a:t>
            </a:r>
            <a:r>
              <a:rPr lang="es-ES" dirty="0"/>
              <a:t>, &amp; Younes </a:t>
            </a:r>
            <a:r>
              <a:rPr lang="es-ES" dirty="0" err="1"/>
              <a:t>Chihab</a:t>
            </a:r>
            <a:endParaRPr lang="es-ES" dirty="0"/>
          </a:p>
          <a:p>
            <a:r>
              <a:rPr lang="en-US" b="1" dirty="0"/>
              <a:t>Journal:</a:t>
            </a:r>
            <a:r>
              <a:rPr lang="en-US" dirty="0"/>
              <a:t> </a:t>
            </a:r>
            <a:r>
              <a:rPr lang="en-IN" i="1" dirty="0"/>
              <a:t>ICT Express</a:t>
            </a:r>
            <a:r>
              <a:rPr lang="en-IN" dirty="0"/>
              <a:t> (2024) </a:t>
            </a:r>
            <a:r>
              <a:rPr lang="en-IN" u="sng" dirty="0"/>
              <a:t>https://www.sciencedirect.com/science/article/pii/S2405959524000316</a:t>
            </a:r>
          </a:p>
          <a:p>
            <a:r>
              <a:rPr lang="en-IN" b="1" dirty="0"/>
              <a:t>Short Description: </a:t>
            </a:r>
            <a:r>
              <a:rPr lang="en-US" dirty="0"/>
              <a:t>It addresses the challenges of inefficiency, data silos, and lack of transparency in agricultural databases by introducing </a:t>
            </a:r>
            <a:r>
              <a:rPr lang="en-US" b="1" dirty="0"/>
              <a:t>AgriSys Blockchain</a:t>
            </a:r>
            <a:r>
              <a:rPr lang="en-US" dirty="0"/>
              <a:t>  an integrated system combining </a:t>
            </a:r>
            <a:r>
              <a:rPr lang="en-US" b="1" dirty="0"/>
              <a:t>IoT</a:t>
            </a:r>
            <a:r>
              <a:rPr lang="en-US" dirty="0"/>
              <a:t> and </a:t>
            </a:r>
            <a:r>
              <a:rPr lang="en-US" b="1" dirty="0"/>
              <a:t>Blockchain</a:t>
            </a:r>
            <a:r>
              <a:rPr lang="en-US" dirty="0"/>
              <a:t> for secure, transparent, and real-time data management.</a:t>
            </a:r>
          </a:p>
          <a:p>
            <a:r>
              <a:rPr lang="en-US" dirty="0"/>
              <a:t>Environmental data collected through IoT sensors is recorded on the blockchain, while </a:t>
            </a:r>
            <a:r>
              <a:rPr lang="en-US" b="1" dirty="0"/>
              <a:t>Java Smart Contracts</a:t>
            </a:r>
            <a:r>
              <a:rPr lang="en-US" dirty="0"/>
              <a:t> enable automated analysis and decision-making to ensure optimal crop conditions and product quality.</a:t>
            </a:r>
            <a:endParaRPr lang="en-IN" b="1" dirty="0"/>
          </a:p>
        </p:txBody>
      </p:sp>
      <p:sp>
        <p:nvSpPr>
          <p:cNvPr id="3" name="Title 2">
            <a:extLst>
              <a:ext uri="{FF2B5EF4-FFF2-40B4-BE49-F238E27FC236}">
                <a16:creationId xmlns:a16="http://schemas.microsoft.com/office/drawing/2014/main" id="{DA9095E2-2F6C-CCD2-B5E5-FD7700278E4A}"/>
              </a:ext>
            </a:extLst>
          </p:cNvPr>
          <p:cNvSpPr>
            <a:spLocks noGrp="1"/>
          </p:cNvSpPr>
          <p:nvPr>
            <p:ph type="title"/>
          </p:nvPr>
        </p:nvSpPr>
        <p:spPr>
          <a:xfrm>
            <a:off x="341194" y="117988"/>
            <a:ext cx="11436823" cy="1553496"/>
          </a:xfrm>
        </p:spPr>
        <p:txBody>
          <a:bodyPr/>
          <a:lstStyle/>
          <a:p>
            <a:r>
              <a:rPr lang="en-US" sz="3600" b="1" dirty="0"/>
              <a:t>Transforming Agricultural Supply Chains: Leveraging Blockchain-Enabled Java Smart Contracts and IoT Integration</a:t>
            </a:r>
          </a:p>
        </p:txBody>
      </p:sp>
      <p:sp>
        <p:nvSpPr>
          <p:cNvPr id="4" name="Slide Number Placeholder 3">
            <a:extLst>
              <a:ext uri="{FF2B5EF4-FFF2-40B4-BE49-F238E27FC236}">
                <a16:creationId xmlns:a16="http://schemas.microsoft.com/office/drawing/2014/main" id="{CE0067A3-FE7C-5DF0-A785-F5621D22227D}"/>
              </a:ext>
            </a:extLst>
          </p:cNvPr>
          <p:cNvSpPr>
            <a:spLocks noGrp="1"/>
          </p:cNvSpPr>
          <p:nvPr>
            <p:ph type="sldNum" sz="quarter" idx="12"/>
          </p:nvPr>
        </p:nvSpPr>
        <p:spPr/>
        <p:txBody>
          <a:bodyPr/>
          <a:lstStyle/>
          <a:p>
            <a:fld id="{71766878-3199-4EAB-94E7-2D6D11070E14}" type="slidenum">
              <a:rPr lang="en-US" smtClean="0"/>
              <a:pPr/>
              <a:t>17</a:t>
            </a:fld>
            <a:endParaRPr lang="en-US"/>
          </a:p>
        </p:txBody>
      </p:sp>
    </p:spTree>
    <p:extLst>
      <p:ext uri="{BB962C8B-B14F-4D97-AF65-F5344CB8AC3E}">
        <p14:creationId xmlns:p14="http://schemas.microsoft.com/office/powerpoint/2010/main" val="3564614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DAAE9-1373-D224-99E4-ECED8842EA6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D151FF-E69B-F9C4-9493-B48CBC193203}"/>
              </a:ext>
            </a:extLst>
          </p:cNvPr>
          <p:cNvSpPr>
            <a:spLocks noGrp="1"/>
          </p:cNvSpPr>
          <p:nvPr>
            <p:ph idx="1"/>
          </p:nvPr>
        </p:nvSpPr>
        <p:spPr>
          <a:xfrm>
            <a:off x="341194" y="1671482"/>
            <a:ext cx="11436823" cy="4414685"/>
          </a:xfrm>
        </p:spPr>
        <p:txBody>
          <a:bodyPr>
            <a:noAutofit/>
          </a:bodyPr>
          <a:lstStyle/>
          <a:p>
            <a:pPr marL="514350" indent="-514350">
              <a:buFont typeface="+mj-lt"/>
              <a:buAutoNum type="arabicPeriod"/>
            </a:pPr>
            <a:r>
              <a:rPr lang="en-IN" sz="2400" b="1" dirty="0"/>
              <a:t>Physical Layer: </a:t>
            </a:r>
            <a:r>
              <a:rPr lang="en-IN" sz="2400" dirty="0"/>
              <a:t>Includes IoT devices and sensors.</a:t>
            </a:r>
          </a:p>
          <a:p>
            <a:pPr marL="514350" indent="-514350">
              <a:buFont typeface="+mj-lt"/>
              <a:buAutoNum type="arabicPeriod"/>
            </a:pPr>
            <a:r>
              <a:rPr lang="en-IN" sz="2400" b="1" dirty="0"/>
              <a:t>Blockchain Network Layer: </a:t>
            </a:r>
            <a:r>
              <a:rPr lang="en-IN" sz="2400" dirty="0"/>
              <a:t>Distributed Ledger, Cryptography, and </a:t>
            </a:r>
            <a:r>
              <a:rPr lang="en-IN" sz="2400" dirty="0" err="1"/>
              <a:t>PoS.</a:t>
            </a:r>
            <a:endParaRPr lang="en-IN" sz="2400" dirty="0"/>
          </a:p>
          <a:p>
            <a:pPr marL="514350" indent="-514350">
              <a:buFont typeface="+mj-lt"/>
              <a:buAutoNum type="arabicPeriod"/>
            </a:pPr>
            <a:r>
              <a:rPr lang="en-IN" sz="2400" b="1" dirty="0"/>
              <a:t>App Platform Layer: </a:t>
            </a:r>
            <a:r>
              <a:rPr lang="en-IN" sz="2400" dirty="0"/>
              <a:t>JavaFX Desktop Application (UI), Java Smart Contracts</a:t>
            </a:r>
            <a:r>
              <a:rPr lang="en-IN" sz="2400" b="1" dirty="0"/>
              <a:t>, </a:t>
            </a:r>
            <a:r>
              <a:rPr lang="en-IN" sz="2400" dirty="0"/>
              <a:t>Data Visualization (</a:t>
            </a:r>
            <a:r>
              <a:rPr lang="en-IN" sz="2400" dirty="0" err="1"/>
              <a:t>jfreecharts</a:t>
            </a:r>
            <a:r>
              <a:rPr lang="en-IN" sz="2400" dirty="0"/>
              <a:t>: Line/Bar Charts).</a:t>
            </a:r>
          </a:p>
          <a:p>
            <a:pPr marL="0" indent="0">
              <a:buNone/>
            </a:pPr>
            <a:endParaRPr lang="en-US" sz="2300" dirty="0"/>
          </a:p>
          <a:p>
            <a:pPr marL="0" indent="0">
              <a:buNone/>
            </a:pPr>
            <a:r>
              <a:rPr lang="en-US" sz="2300" dirty="0"/>
              <a:t>The overall functionality includes this logic:</a:t>
            </a:r>
          </a:p>
          <a:p>
            <a:r>
              <a:rPr lang="en-US" sz="2400" dirty="0"/>
              <a:t>Retrieves sensor data from the blockchain.</a:t>
            </a:r>
          </a:p>
          <a:p>
            <a:r>
              <a:rPr lang="en-US" sz="2400" dirty="0"/>
              <a:t>Analyzes data against predefined optimal conditions using </a:t>
            </a:r>
            <a:r>
              <a:rPr lang="en-US" sz="2400" b="1" dirty="0"/>
              <a:t>if-else logic</a:t>
            </a:r>
            <a:r>
              <a:rPr lang="en-US" sz="2400" dirty="0"/>
              <a:t>.</a:t>
            </a:r>
          </a:p>
          <a:p>
            <a:r>
              <a:rPr lang="en-US" sz="2400" dirty="0"/>
              <a:t>Determines product status ("Optimum", "Acceptable", "Bad").</a:t>
            </a:r>
          </a:p>
          <a:p>
            <a:r>
              <a:rPr lang="en-IN" sz="2400" dirty="0"/>
              <a:t>Triggers automated actions/alerts based on Product Status.</a:t>
            </a:r>
          </a:p>
          <a:p>
            <a:endParaRPr lang="en-US" sz="2300" dirty="0"/>
          </a:p>
          <a:p>
            <a:pPr marL="514350" indent="-514350">
              <a:buFont typeface="+mj-lt"/>
              <a:buAutoNum type="arabicPeriod"/>
            </a:pPr>
            <a:endParaRPr lang="en-US" sz="2300" dirty="0"/>
          </a:p>
          <a:p>
            <a:endParaRPr lang="en-IN" sz="2300" b="1" dirty="0"/>
          </a:p>
          <a:p>
            <a:endParaRPr lang="en-IN" sz="2300" b="1" dirty="0"/>
          </a:p>
        </p:txBody>
      </p:sp>
      <p:sp>
        <p:nvSpPr>
          <p:cNvPr id="3" name="Title 2">
            <a:extLst>
              <a:ext uri="{FF2B5EF4-FFF2-40B4-BE49-F238E27FC236}">
                <a16:creationId xmlns:a16="http://schemas.microsoft.com/office/drawing/2014/main" id="{C7BB0308-8B80-1CE7-03CE-63324E44DF68}"/>
              </a:ext>
            </a:extLst>
          </p:cNvPr>
          <p:cNvSpPr>
            <a:spLocks noGrp="1"/>
          </p:cNvSpPr>
          <p:nvPr>
            <p:ph type="title"/>
          </p:nvPr>
        </p:nvSpPr>
        <p:spPr>
          <a:xfrm>
            <a:off x="341194" y="348660"/>
            <a:ext cx="11436823" cy="1322823"/>
          </a:xfrm>
        </p:spPr>
        <p:txBody>
          <a:bodyPr/>
          <a:lstStyle/>
          <a:p>
            <a:pPr algn="ctr"/>
            <a:r>
              <a:rPr lang="en-IN" sz="4500" b="1" dirty="0"/>
              <a:t>System Architecture</a:t>
            </a:r>
          </a:p>
        </p:txBody>
      </p:sp>
      <p:sp>
        <p:nvSpPr>
          <p:cNvPr id="4" name="Slide Number Placeholder 3">
            <a:extLst>
              <a:ext uri="{FF2B5EF4-FFF2-40B4-BE49-F238E27FC236}">
                <a16:creationId xmlns:a16="http://schemas.microsoft.com/office/drawing/2014/main" id="{B150E40F-71F3-56C7-AA7E-A5870F343CD3}"/>
              </a:ext>
            </a:extLst>
          </p:cNvPr>
          <p:cNvSpPr>
            <a:spLocks noGrp="1"/>
          </p:cNvSpPr>
          <p:nvPr>
            <p:ph type="sldNum" sz="quarter" idx="12"/>
          </p:nvPr>
        </p:nvSpPr>
        <p:spPr/>
        <p:txBody>
          <a:bodyPr/>
          <a:lstStyle/>
          <a:p>
            <a:fld id="{71766878-3199-4EAB-94E7-2D6D11070E14}" type="slidenum">
              <a:rPr lang="en-US" smtClean="0"/>
              <a:pPr/>
              <a:t>18</a:t>
            </a:fld>
            <a:endParaRPr lang="en-US"/>
          </a:p>
        </p:txBody>
      </p:sp>
    </p:spTree>
    <p:extLst>
      <p:ext uri="{BB962C8B-B14F-4D97-AF65-F5344CB8AC3E}">
        <p14:creationId xmlns:p14="http://schemas.microsoft.com/office/powerpoint/2010/main" val="2814787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F97DE-E9AF-EF19-D970-2E1400CFBE5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2BBAE60-6645-808F-72DA-98BD9E0BF911}"/>
              </a:ext>
            </a:extLst>
          </p:cNvPr>
          <p:cNvSpPr>
            <a:spLocks noGrp="1"/>
          </p:cNvSpPr>
          <p:nvPr>
            <p:ph idx="1"/>
          </p:nvPr>
        </p:nvSpPr>
        <p:spPr>
          <a:xfrm>
            <a:off x="341194" y="1671482"/>
            <a:ext cx="11436823" cy="4414685"/>
          </a:xfrm>
        </p:spPr>
        <p:txBody>
          <a:bodyPr>
            <a:noAutofit/>
          </a:bodyPr>
          <a:lstStyle/>
          <a:p>
            <a:pPr marL="457200" indent="-457200">
              <a:buFont typeface="+mj-lt"/>
              <a:buAutoNum type="arabicPeriod"/>
            </a:pPr>
            <a:r>
              <a:rPr lang="en-US" b="1" dirty="0"/>
              <a:t>Focus on Functionality over Performance</a:t>
            </a:r>
          </a:p>
          <a:p>
            <a:pPr marL="457200" indent="-457200">
              <a:buFont typeface="+mj-lt"/>
              <a:buAutoNum type="arabicPeriod"/>
            </a:pPr>
            <a:r>
              <a:rPr lang="en-IN" b="1" dirty="0"/>
              <a:t>Limited Scope of Automation</a:t>
            </a:r>
            <a:endParaRPr lang="en-IN" dirty="0"/>
          </a:p>
          <a:p>
            <a:pPr marL="457200" indent="-457200">
              <a:buFont typeface="+mj-lt"/>
              <a:buAutoNum type="arabicPeriod"/>
            </a:pPr>
            <a:r>
              <a:rPr lang="en-IN" b="1" dirty="0"/>
              <a:t>Simple AI/ML</a:t>
            </a:r>
            <a:endParaRPr lang="en-IN" dirty="0"/>
          </a:p>
          <a:p>
            <a:pPr marL="457200" indent="-457200">
              <a:buFont typeface="+mj-lt"/>
              <a:buAutoNum type="arabicPeriod"/>
            </a:pPr>
            <a:r>
              <a:rPr lang="en-IN" b="1" dirty="0"/>
              <a:t>Specific Crop/Region Focus</a:t>
            </a:r>
            <a:endParaRPr lang="en-IN" dirty="0"/>
          </a:p>
          <a:p>
            <a:pPr marL="457200" indent="-457200">
              <a:buFont typeface="+mj-lt"/>
              <a:buAutoNum type="arabicPeriod"/>
            </a:pPr>
            <a:r>
              <a:rPr lang="en-IN" b="1" dirty="0"/>
              <a:t>Missing the Economic Analysis</a:t>
            </a:r>
            <a:endParaRPr lang="en-US" dirty="0"/>
          </a:p>
          <a:p>
            <a:endParaRPr lang="en-IN" b="1" dirty="0"/>
          </a:p>
          <a:p>
            <a:endParaRPr lang="en-IN" b="1" dirty="0"/>
          </a:p>
        </p:txBody>
      </p:sp>
      <p:sp>
        <p:nvSpPr>
          <p:cNvPr id="3" name="Title 2">
            <a:extLst>
              <a:ext uri="{FF2B5EF4-FFF2-40B4-BE49-F238E27FC236}">
                <a16:creationId xmlns:a16="http://schemas.microsoft.com/office/drawing/2014/main" id="{BEB28CF2-5742-20FE-B0A8-D4B5AB956182}"/>
              </a:ext>
            </a:extLst>
          </p:cNvPr>
          <p:cNvSpPr>
            <a:spLocks noGrp="1"/>
          </p:cNvSpPr>
          <p:nvPr>
            <p:ph type="title"/>
          </p:nvPr>
        </p:nvSpPr>
        <p:spPr>
          <a:xfrm>
            <a:off x="341194" y="348660"/>
            <a:ext cx="11436823" cy="1322823"/>
          </a:xfrm>
        </p:spPr>
        <p:txBody>
          <a:bodyPr/>
          <a:lstStyle/>
          <a:p>
            <a:pPr algn="ctr"/>
            <a:r>
              <a:rPr lang="en-IN" sz="4500" b="1" dirty="0"/>
              <a:t>Research Gaps and </a:t>
            </a:r>
            <a:r>
              <a:rPr lang="en-IN" sz="4800" b="1" dirty="0"/>
              <a:t>Limitations</a:t>
            </a:r>
            <a:endParaRPr lang="en-IN" sz="4500" b="1" dirty="0"/>
          </a:p>
        </p:txBody>
      </p:sp>
      <p:sp>
        <p:nvSpPr>
          <p:cNvPr id="4" name="Slide Number Placeholder 3">
            <a:extLst>
              <a:ext uri="{FF2B5EF4-FFF2-40B4-BE49-F238E27FC236}">
                <a16:creationId xmlns:a16="http://schemas.microsoft.com/office/drawing/2014/main" id="{424B76B1-3918-75B1-DC29-C8FFBE2969E3}"/>
              </a:ext>
            </a:extLst>
          </p:cNvPr>
          <p:cNvSpPr>
            <a:spLocks noGrp="1"/>
          </p:cNvSpPr>
          <p:nvPr>
            <p:ph type="sldNum" sz="quarter" idx="12"/>
          </p:nvPr>
        </p:nvSpPr>
        <p:spPr/>
        <p:txBody>
          <a:bodyPr/>
          <a:lstStyle/>
          <a:p>
            <a:fld id="{71766878-3199-4EAB-94E7-2D6D11070E14}" type="slidenum">
              <a:rPr lang="en-US" smtClean="0"/>
              <a:pPr/>
              <a:t>19</a:t>
            </a:fld>
            <a:endParaRPr lang="en-US"/>
          </a:p>
        </p:txBody>
      </p:sp>
    </p:spTree>
    <p:extLst>
      <p:ext uri="{BB962C8B-B14F-4D97-AF65-F5344CB8AC3E}">
        <p14:creationId xmlns:p14="http://schemas.microsoft.com/office/powerpoint/2010/main" val="3061481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9C84393-781C-2501-1657-45BE645AB288}"/>
              </a:ext>
            </a:extLst>
          </p:cNvPr>
          <p:cNvSpPr>
            <a:spLocks noGrp="1"/>
          </p:cNvSpPr>
          <p:nvPr>
            <p:ph idx="1"/>
          </p:nvPr>
        </p:nvSpPr>
        <p:spPr>
          <a:xfrm>
            <a:off x="341194" y="1907458"/>
            <a:ext cx="11436823" cy="4137880"/>
          </a:xfrm>
        </p:spPr>
        <p:txBody>
          <a:bodyPr/>
          <a:lstStyle/>
          <a:p>
            <a:r>
              <a:rPr lang="en-IN" b="1" dirty="0"/>
              <a:t>Authors: </a:t>
            </a:r>
            <a:r>
              <a:rPr lang="en-US" dirty="0"/>
              <a:t>Qi Yu, Min Zhang, &amp; Arun S. Mujumdar</a:t>
            </a:r>
          </a:p>
          <a:p>
            <a:r>
              <a:rPr lang="en-US" b="1" dirty="0"/>
              <a:t>Journal:</a:t>
            </a:r>
            <a:r>
              <a:rPr lang="en-US" dirty="0"/>
              <a:t> </a:t>
            </a:r>
            <a:r>
              <a:rPr lang="en-US" i="1" dirty="0"/>
              <a:t>Computers and Electronics in Agriculture</a:t>
            </a:r>
            <a:r>
              <a:rPr lang="en-US" dirty="0"/>
              <a:t> (2024) </a:t>
            </a:r>
            <a:r>
              <a:rPr lang="en-US" u="sng" dirty="0"/>
              <a:t>https://www.sciencedirect.com/science/article/abs/pii/S0168169924005829</a:t>
            </a:r>
          </a:p>
          <a:p>
            <a:r>
              <a:rPr lang="en-IN" b="1" dirty="0"/>
              <a:t>Short Description: </a:t>
            </a:r>
            <a:r>
              <a:rPr lang="en-IN" dirty="0"/>
              <a:t>It explores the problem of tracking the quality of fresh food supply through </a:t>
            </a:r>
            <a:r>
              <a:rPr lang="en-IN" b="1" dirty="0"/>
              <a:t>Blockchain + Intelligent Tech (IoT).</a:t>
            </a:r>
          </a:p>
          <a:p>
            <a:r>
              <a:rPr lang="en-US" b="1" dirty="0"/>
              <a:t>Real-time, practical data </a:t>
            </a:r>
            <a:r>
              <a:rPr lang="en-US" dirty="0"/>
              <a:t>is added to the blockchain through information collected by sensors and IoT devices.</a:t>
            </a:r>
            <a:endParaRPr lang="en-IN" b="1" dirty="0"/>
          </a:p>
          <a:p>
            <a:endParaRPr lang="en-IN" b="1" dirty="0"/>
          </a:p>
        </p:txBody>
      </p:sp>
      <p:sp>
        <p:nvSpPr>
          <p:cNvPr id="3" name="Title 2">
            <a:extLst>
              <a:ext uri="{FF2B5EF4-FFF2-40B4-BE49-F238E27FC236}">
                <a16:creationId xmlns:a16="http://schemas.microsoft.com/office/drawing/2014/main" id="{A9180E79-0DF3-C653-BDD3-BD1F6CEA0A12}"/>
              </a:ext>
            </a:extLst>
          </p:cNvPr>
          <p:cNvSpPr>
            <a:spLocks noGrp="1"/>
          </p:cNvSpPr>
          <p:nvPr>
            <p:ph type="title"/>
          </p:nvPr>
        </p:nvSpPr>
        <p:spPr>
          <a:xfrm>
            <a:off x="341194" y="348660"/>
            <a:ext cx="11436823" cy="1322823"/>
          </a:xfrm>
        </p:spPr>
        <p:txBody>
          <a:bodyPr/>
          <a:lstStyle/>
          <a:p>
            <a:r>
              <a:rPr lang="en-US" sz="3400" b="1" dirty="0"/>
              <a:t>Blockchain-based fresh food quality traceability and dynamic monitoring</a:t>
            </a:r>
            <a:endParaRPr lang="en-IN" sz="3400" b="1" dirty="0"/>
          </a:p>
        </p:txBody>
      </p:sp>
      <p:sp>
        <p:nvSpPr>
          <p:cNvPr id="4" name="Slide Number Placeholder 3">
            <a:extLst>
              <a:ext uri="{FF2B5EF4-FFF2-40B4-BE49-F238E27FC236}">
                <a16:creationId xmlns:a16="http://schemas.microsoft.com/office/drawing/2014/main" id="{5AF2D171-9501-EDEC-398C-BECD1F5640A3}"/>
              </a:ext>
            </a:extLst>
          </p:cNvPr>
          <p:cNvSpPr>
            <a:spLocks noGrp="1"/>
          </p:cNvSpPr>
          <p:nvPr>
            <p:ph type="sldNum" sz="quarter" idx="12"/>
          </p:nvPr>
        </p:nvSpPr>
        <p:spPr/>
        <p:txBody>
          <a:bodyPr/>
          <a:lstStyle/>
          <a:p>
            <a:fld id="{71766878-3199-4EAB-94E7-2D6D11070E14}" type="slidenum">
              <a:rPr lang="en-US" smtClean="0"/>
              <a:pPr/>
              <a:t>20</a:t>
            </a:fld>
            <a:endParaRPr lang="en-US"/>
          </a:p>
        </p:txBody>
      </p:sp>
    </p:spTree>
    <p:extLst>
      <p:ext uri="{BB962C8B-B14F-4D97-AF65-F5344CB8AC3E}">
        <p14:creationId xmlns:p14="http://schemas.microsoft.com/office/powerpoint/2010/main" val="3171371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8D348-1C50-7E56-2029-63BF63C90D2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12CAEE1-1FBA-6950-81D7-C06D138AB9F6}"/>
              </a:ext>
            </a:extLst>
          </p:cNvPr>
          <p:cNvSpPr>
            <a:spLocks noGrp="1"/>
          </p:cNvSpPr>
          <p:nvPr>
            <p:ph idx="1"/>
          </p:nvPr>
        </p:nvSpPr>
        <p:spPr>
          <a:xfrm>
            <a:off x="341194" y="1671483"/>
            <a:ext cx="11436823" cy="4137880"/>
          </a:xfrm>
        </p:spPr>
        <p:txBody>
          <a:bodyPr>
            <a:noAutofit/>
          </a:bodyPr>
          <a:lstStyle/>
          <a:p>
            <a:pPr marL="514350" indent="-514350">
              <a:buFont typeface="+mj-lt"/>
              <a:buAutoNum type="arabicPeriod"/>
            </a:pPr>
            <a:r>
              <a:rPr lang="en-US" sz="2300" b="1" dirty="0"/>
              <a:t>Operation Layer:</a:t>
            </a:r>
            <a:r>
              <a:rPr lang="en-US" sz="2300" dirty="0"/>
              <a:t> The physical steps (Farming, Packaging, Transport).</a:t>
            </a:r>
          </a:p>
          <a:p>
            <a:pPr marL="514350" indent="-514350">
              <a:buFont typeface="+mj-lt"/>
              <a:buAutoNum type="arabicPeriod"/>
            </a:pPr>
            <a:r>
              <a:rPr lang="en-IN" sz="2300" b="1" dirty="0"/>
              <a:t>Data Collection Layer:</a:t>
            </a:r>
            <a:r>
              <a:rPr lang="en-IN" sz="2300" dirty="0"/>
              <a:t> IoT devices (RFID, sensors, QR codes) capture data.</a:t>
            </a:r>
          </a:p>
          <a:p>
            <a:pPr marL="514350" indent="-514350">
              <a:buFont typeface="+mj-lt"/>
              <a:buAutoNum type="arabicPeriod"/>
            </a:pPr>
            <a:r>
              <a:rPr lang="en-US" sz="2300" b="1" dirty="0"/>
              <a:t>Data Layer:</a:t>
            </a:r>
            <a:r>
              <a:rPr lang="en-US" sz="2300" dirty="0"/>
              <a:t> Blockchain structures (Hash Functions, Merkle Trees) secure the data.</a:t>
            </a:r>
          </a:p>
          <a:p>
            <a:pPr marL="514350" indent="-514350">
              <a:buFont typeface="+mj-lt"/>
              <a:buAutoNum type="arabicPeriod"/>
            </a:pPr>
            <a:r>
              <a:rPr lang="en-US" sz="2300" b="1" dirty="0"/>
              <a:t>Consensus &amp; Network Layer:</a:t>
            </a:r>
            <a:r>
              <a:rPr lang="en-US" sz="2300" dirty="0"/>
              <a:t> The P2P network and rules (Proof of Work/Stake) validate transactions.</a:t>
            </a:r>
          </a:p>
          <a:p>
            <a:pPr marL="514350" indent="-514350">
              <a:buFont typeface="+mj-lt"/>
              <a:buAutoNum type="arabicPeriod"/>
            </a:pPr>
            <a:r>
              <a:rPr lang="en-US" sz="2300" b="1" dirty="0"/>
              <a:t>Business Application Layer:</a:t>
            </a:r>
            <a:r>
              <a:rPr lang="en-US" sz="2300" dirty="0"/>
              <a:t> </a:t>
            </a:r>
            <a:r>
              <a:rPr lang="en-US" sz="2300" b="1" dirty="0"/>
              <a:t>Smart Contracts</a:t>
            </a:r>
            <a:r>
              <a:rPr lang="en-US" sz="2300" dirty="0"/>
              <a:t> automatically enforce rules (e.g., "IF temp &gt; 5°C, THEN flag shipment").</a:t>
            </a:r>
          </a:p>
          <a:p>
            <a:pPr marL="514350" indent="-514350">
              <a:buFont typeface="+mj-lt"/>
              <a:buAutoNum type="arabicPeriod"/>
            </a:pPr>
            <a:r>
              <a:rPr lang="en-US" sz="2300" b="1" dirty="0"/>
              <a:t>Representation Layer:</a:t>
            </a:r>
            <a:r>
              <a:rPr lang="en-US" sz="2300" dirty="0"/>
              <a:t> The user-facing software application.</a:t>
            </a:r>
          </a:p>
          <a:p>
            <a:pPr marL="514350" indent="-514350">
              <a:buFont typeface="+mj-lt"/>
              <a:buAutoNum type="arabicPeriod"/>
            </a:pPr>
            <a:r>
              <a:rPr lang="en-US" sz="2300" b="1" dirty="0"/>
              <a:t>User Layer:</a:t>
            </a:r>
            <a:r>
              <a:rPr lang="en-US" sz="2300" dirty="0"/>
              <a:t> The stakeholders (Consumers, Regulators, Farmers).</a:t>
            </a:r>
          </a:p>
          <a:p>
            <a:pPr marL="514350" indent="-514350">
              <a:buFont typeface="+mj-lt"/>
              <a:buAutoNum type="arabicPeriod"/>
            </a:pPr>
            <a:endParaRPr lang="en-US" sz="2300" dirty="0"/>
          </a:p>
          <a:p>
            <a:pPr marL="514350" indent="-514350">
              <a:buFont typeface="+mj-lt"/>
              <a:buAutoNum type="arabicPeriod"/>
            </a:pPr>
            <a:endParaRPr lang="en-US" sz="2300" dirty="0"/>
          </a:p>
          <a:p>
            <a:endParaRPr lang="en-IN" sz="2300" b="1" dirty="0"/>
          </a:p>
          <a:p>
            <a:endParaRPr lang="en-IN" sz="2300" b="1" dirty="0"/>
          </a:p>
        </p:txBody>
      </p:sp>
      <p:sp>
        <p:nvSpPr>
          <p:cNvPr id="3" name="Title 2">
            <a:extLst>
              <a:ext uri="{FF2B5EF4-FFF2-40B4-BE49-F238E27FC236}">
                <a16:creationId xmlns:a16="http://schemas.microsoft.com/office/drawing/2014/main" id="{93E3D3DB-56BA-7756-2030-92DB9FE848E2}"/>
              </a:ext>
            </a:extLst>
          </p:cNvPr>
          <p:cNvSpPr>
            <a:spLocks noGrp="1"/>
          </p:cNvSpPr>
          <p:nvPr>
            <p:ph type="title"/>
          </p:nvPr>
        </p:nvSpPr>
        <p:spPr>
          <a:xfrm>
            <a:off x="341194" y="348660"/>
            <a:ext cx="11436823" cy="1322823"/>
          </a:xfrm>
        </p:spPr>
        <p:txBody>
          <a:bodyPr/>
          <a:lstStyle/>
          <a:p>
            <a:pPr algn="ctr"/>
            <a:r>
              <a:rPr lang="en-IN" sz="4500" b="1" dirty="0"/>
              <a:t>System Architecture</a:t>
            </a:r>
          </a:p>
        </p:txBody>
      </p:sp>
      <p:sp>
        <p:nvSpPr>
          <p:cNvPr id="4" name="Slide Number Placeholder 3">
            <a:extLst>
              <a:ext uri="{FF2B5EF4-FFF2-40B4-BE49-F238E27FC236}">
                <a16:creationId xmlns:a16="http://schemas.microsoft.com/office/drawing/2014/main" id="{7CE3BA43-CCFF-CC79-ACEC-3BDFC78AB958}"/>
              </a:ext>
            </a:extLst>
          </p:cNvPr>
          <p:cNvSpPr>
            <a:spLocks noGrp="1"/>
          </p:cNvSpPr>
          <p:nvPr>
            <p:ph type="sldNum" sz="quarter" idx="12"/>
          </p:nvPr>
        </p:nvSpPr>
        <p:spPr/>
        <p:txBody>
          <a:bodyPr/>
          <a:lstStyle/>
          <a:p>
            <a:fld id="{71766878-3199-4EAB-94E7-2D6D11070E14}" type="slidenum">
              <a:rPr lang="en-US" smtClean="0"/>
              <a:pPr/>
              <a:t>21</a:t>
            </a:fld>
            <a:endParaRPr lang="en-US"/>
          </a:p>
        </p:txBody>
      </p:sp>
    </p:spTree>
    <p:extLst>
      <p:ext uri="{BB962C8B-B14F-4D97-AF65-F5344CB8AC3E}">
        <p14:creationId xmlns:p14="http://schemas.microsoft.com/office/powerpoint/2010/main" val="3825865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8A338-9A03-C312-E6A4-967203581C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5EEB9D-402C-84BC-CAE7-539E2B192387}"/>
              </a:ext>
            </a:extLst>
          </p:cNvPr>
          <p:cNvSpPr>
            <a:spLocks noGrp="1"/>
          </p:cNvSpPr>
          <p:nvPr>
            <p:ph idx="1"/>
          </p:nvPr>
        </p:nvSpPr>
        <p:spPr>
          <a:xfrm>
            <a:off x="341194" y="1671483"/>
            <a:ext cx="11436823" cy="4137880"/>
          </a:xfrm>
        </p:spPr>
        <p:txBody>
          <a:bodyPr>
            <a:noAutofit/>
          </a:bodyPr>
          <a:lstStyle/>
          <a:p>
            <a:pPr marL="514350" indent="-514350">
              <a:buFont typeface="+mj-lt"/>
              <a:buAutoNum type="arabicPeriod"/>
            </a:pPr>
            <a:r>
              <a:rPr lang="en-US" sz="2300" b="1" dirty="0"/>
              <a:t>Traceability: </a:t>
            </a:r>
            <a:r>
              <a:rPr lang="en-US" sz="2300" dirty="0"/>
              <a:t>Used </a:t>
            </a:r>
            <a:r>
              <a:rPr lang="en-IN" sz="2400" dirty="0"/>
              <a:t>Spectroscopy, Mass Spectrometry, DNA (Barcoding, SNP, SSR) , Labels (RFID, QR, NFC).</a:t>
            </a:r>
          </a:p>
          <a:p>
            <a:pPr marL="514350" indent="-514350">
              <a:buFont typeface="+mj-lt"/>
              <a:buAutoNum type="arabicPeriod"/>
            </a:pPr>
            <a:r>
              <a:rPr lang="en-IN" sz="2400" b="1" dirty="0"/>
              <a:t>Dynamic Monitoring: </a:t>
            </a:r>
            <a:r>
              <a:rPr lang="en-IN" sz="2400" dirty="0"/>
              <a:t>Used Gas &amp; pH Sensors, Spoilage Indicators, Intelligent Films / Smart Packaging, and Bionic Technology.</a:t>
            </a:r>
          </a:p>
          <a:p>
            <a:pPr marL="514350" indent="-514350">
              <a:buFont typeface="+mj-lt"/>
              <a:buAutoNum type="arabicPeriod"/>
            </a:pPr>
            <a:r>
              <a:rPr lang="en-IN" sz="2400" b="1" dirty="0"/>
              <a:t>Quality Testing</a:t>
            </a:r>
          </a:p>
          <a:p>
            <a:r>
              <a:rPr lang="en-US" sz="2400" b="1" dirty="0"/>
              <a:t>Electronic Nose (E-nose):</a:t>
            </a:r>
            <a:r>
              <a:rPr lang="en-US" sz="2400" dirty="0"/>
              <a:t> Smells the volatile compounds associated with spoilage.</a:t>
            </a:r>
          </a:p>
          <a:p>
            <a:r>
              <a:rPr lang="en-IN" sz="2400" b="1" dirty="0"/>
              <a:t>Electronic Tongue (E-tongue):</a:t>
            </a:r>
            <a:r>
              <a:rPr lang="en-IN" sz="2400" dirty="0"/>
              <a:t> Tastes and </a:t>
            </a:r>
            <a:r>
              <a:rPr lang="en-IN" sz="2400" dirty="0" err="1"/>
              <a:t>analyzes</a:t>
            </a:r>
            <a:r>
              <a:rPr lang="en-IN" sz="2400" dirty="0"/>
              <a:t> liquid components for quality.</a:t>
            </a:r>
          </a:p>
          <a:p>
            <a:pPr marL="514350" indent="-514350">
              <a:buFont typeface="+mj-lt"/>
              <a:buAutoNum type="arabicPeriod"/>
            </a:pPr>
            <a:endParaRPr lang="en-IN" sz="2400" dirty="0"/>
          </a:p>
          <a:p>
            <a:pPr marL="0" indent="0">
              <a:buNone/>
            </a:pPr>
            <a:endParaRPr lang="en-IN" sz="2400" dirty="0"/>
          </a:p>
          <a:p>
            <a:pPr marL="514350" indent="-514350">
              <a:buFont typeface="+mj-lt"/>
              <a:buAutoNum type="arabicPeriod"/>
            </a:pPr>
            <a:endParaRPr lang="en-US" sz="2300" dirty="0"/>
          </a:p>
          <a:p>
            <a:pPr marL="514350" indent="-514350">
              <a:buFont typeface="+mj-lt"/>
              <a:buAutoNum type="arabicPeriod"/>
            </a:pPr>
            <a:endParaRPr lang="en-US" sz="2300" dirty="0"/>
          </a:p>
          <a:p>
            <a:endParaRPr lang="en-IN" sz="2300" b="1" dirty="0"/>
          </a:p>
          <a:p>
            <a:endParaRPr lang="en-IN" sz="2300" b="1" dirty="0"/>
          </a:p>
        </p:txBody>
      </p:sp>
      <p:sp>
        <p:nvSpPr>
          <p:cNvPr id="3" name="Title 2">
            <a:extLst>
              <a:ext uri="{FF2B5EF4-FFF2-40B4-BE49-F238E27FC236}">
                <a16:creationId xmlns:a16="http://schemas.microsoft.com/office/drawing/2014/main" id="{BE68F28A-06E1-76FD-FB82-546BBCF3AB20}"/>
              </a:ext>
            </a:extLst>
          </p:cNvPr>
          <p:cNvSpPr>
            <a:spLocks noGrp="1"/>
          </p:cNvSpPr>
          <p:nvPr>
            <p:ph type="title"/>
          </p:nvPr>
        </p:nvSpPr>
        <p:spPr>
          <a:xfrm>
            <a:off x="341194" y="348660"/>
            <a:ext cx="11436823" cy="1322823"/>
          </a:xfrm>
        </p:spPr>
        <p:txBody>
          <a:bodyPr/>
          <a:lstStyle/>
          <a:p>
            <a:pPr algn="ctr"/>
            <a:r>
              <a:rPr lang="en-IN" sz="4500" b="1" dirty="0"/>
              <a:t>Key Features</a:t>
            </a:r>
          </a:p>
        </p:txBody>
      </p:sp>
      <p:sp>
        <p:nvSpPr>
          <p:cNvPr id="4" name="Slide Number Placeholder 3">
            <a:extLst>
              <a:ext uri="{FF2B5EF4-FFF2-40B4-BE49-F238E27FC236}">
                <a16:creationId xmlns:a16="http://schemas.microsoft.com/office/drawing/2014/main" id="{6B539B88-92F2-A877-928B-C4D9CBAB06F9}"/>
              </a:ext>
            </a:extLst>
          </p:cNvPr>
          <p:cNvSpPr>
            <a:spLocks noGrp="1"/>
          </p:cNvSpPr>
          <p:nvPr>
            <p:ph type="sldNum" sz="quarter" idx="12"/>
          </p:nvPr>
        </p:nvSpPr>
        <p:spPr/>
        <p:txBody>
          <a:bodyPr/>
          <a:lstStyle/>
          <a:p>
            <a:fld id="{71766878-3199-4EAB-94E7-2D6D11070E14}" type="slidenum">
              <a:rPr lang="en-US" smtClean="0"/>
              <a:pPr/>
              <a:t>22</a:t>
            </a:fld>
            <a:endParaRPr lang="en-US"/>
          </a:p>
        </p:txBody>
      </p:sp>
    </p:spTree>
    <p:extLst>
      <p:ext uri="{BB962C8B-B14F-4D97-AF65-F5344CB8AC3E}">
        <p14:creationId xmlns:p14="http://schemas.microsoft.com/office/powerpoint/2010/main" val="380492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30A5D-846D-E4B7-4149-8ED7D6F2B06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F278119-B40B-1681-E669-63027A3E3C29}"/>
              </a:ext>
            </a:extLst>
          </p:cNvPr>
          <p:cNvSpPr>
            <a:spLocks noGrp="1"/>
          </p:cNvSpPr>
          <p:nvPr>
            <p:ph idx="1"/>
          </p:nvPr>
        </p:nvSpPr>
        <p:spPr>
          <a:xfrm>
            <a:off x="341194" y="1671483"/>
            <a:ext cx="11436823" cy="4137880"/>
          </a:xfrm>
        </p:spPr>
        <p:txBody>
          <a:bodyPr>
            <a:noAutofit/>
          </a:bodyPr>
          <a:lstStyle/>
          <a:p>
            <a:pPr marL="514350" indent="-514350">
              <a:buFont typeface="+mj-lt"/>
              <a:buAutoNum type="arabicPeriod"/>
            </a:pPr>
            <a:r>
              <a:rPr lang="en-IN" sz="3500" b="1" dirty="0"/>
              <a:t>Scalability and Efficiency</a:t>
            </a:r>
            <a:endParaRPr lang="en-IN" sz="3500" dirty="0"/>
          </a:p>
          <a:p>
            <a:pPr marL="514350" indent="-514350">
              <a:buFont typeface="+mj-lt"/>
              <a:buAutoNum type="arabicPeriod"/>
            </a:pPr>
            <a:r>
              <a:rPr lang="en-IN" sz="3500" b="1" dirty="0"/>
              <a:t>Cost</a:t>
            </a:r>
            <a:endParaRPr lang="en-IN" sz="3500" dirty="0"/>
          </a:p>
          <a:p>
            <a:pPr marL="514350" indent="-514350">
              <a:buFont typeface="+mj-lt"/>
              <a:buAutoNum type="arabicPeriod"/>
            </a:pPr>
            <a:r>
              <a:rPr lang="en-IN" sz="3500" b="1" dirty="0"/>
              <a:t>Regulation &amp; Standards</a:t>
            </a:r>
            <a:endParaRPr lang="en-US" sz="3500" dirty="0"/>
          </a:p>
          <a:p>
            <a:pPr marL="514350" indent="-514350">
              <a:buFont typeface="+mj-lt"/>
              <a:buAutoNum type="arabicPeriod"/>
            </a:pPr>
            <a:endParaRPr lang="en-US" sz="3500" dirty="0"/>
          </a:p>
          <a:p>
            <a:endParaRPr lang="en-IN" sz="3500" b="1" dirty="0"/>
          </a:p>
          <a:p>
            <a:endParaRPr lang="en-IN" sz="3500" b="1" dirty="0"/>
          </a:p>
        </p:txBody>
      </p:sp>
      <p:sp>
        <p:nvSpPr>
          <p:cNvPr id="3" name="Title 2">
            <a:extLst>
              <a:ext uri="{FF2B5EF4-FFF2-40B4-BE49-F238E27FC236}">
                <a16:creationId xmlns:a16="http://schemas.microsoft.com/office/drawing/2014/main" id="{39D79707-F8BF-5DDA-68E3-D956CE1EC7BA}"/>
              </a:ext>
            </a:extLst>
          </p:cNvPr>
          <p:cNvSpPr>
            <a:spLocks noGrp="1"/>
          </p:cNvSpPr>
          <p:nvPr>
            <p:ph type="title"/>
          </p:nvPr>
        </p:nvSpPr>
        <p:spPr>
          <a:xfrm>
            <a:off x="341194" y="348660"/>
            <a:ext cx="11436823" cy="1322823"/>
          </a:xfrm>
        </p:spPr>
        <p:txBody>
          <a:bodyPr/>
          <a:lstStyle/>
          <a:p>
            <a:pPr algn="ctr"/>
            <a:r>
              <a:rPr lang="en-IN" sz="4500" b="1" dirty="0"/>
              <a:t>Research Gaps and Limitations</a:t>
            </a:r>
          </a:p>
        </p:txBody>
      </p:sp>
      <p:sp>
        <p:nvSpPr>
          <p:cNvPr id="4" name="Slide Number Placeholder 3">
            <a:extLst>
              <a:ext uri="{FF2B5EF4-FFF2-40B4-BE49-F238E27FC236}">
                <a16:creationId xmlns:a16="http://schemas.microsoft.com/office/drawing/2014/main" id="{FED16DB8-A2C8-65FC-76F9-2DFC48655C31}"/>
              </a:ext>
            </a:extLst>
          </p:cNvPr>
          <p:cNvSpPr>
            <a:spLocks noGrp="1"/>
          </p:cNvSpPr>
          <p:nvPr>
            <p:ph type="sldNum" sz="quarter" idx="12"/>
          </p:nvPr>
        </p:nvSpPr>
        <p:spPr/>
        <p:txBody>
          <a:bodyPr/>
          <a:lstStyle/>
          <a:p>
            <a:fld id="{71766878-3199-4EAB-94E7-2D6D11070E14}" type="slidenum">
              <a:rPr lang="en-US" smtClean="0"/>
              <a:pPr/>
              <a:t>23</a:t>
            </a:fld>
            <a:endParaRPr lang="en-US"/>
          </a:p>
        </p:txBody>
      </p:sp>
    </p:spTree>
    <p:extLst>
      <p:ext uri="{BB962C8B-B14F-4D97-AF65-F5344CB8AC3E}">
        <p14:creationId xmlns:p14="http://schemas.microsoft.com/office/powerpoint/2010/main" val="33431743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1E62D-76EB-0537-FAB0-CD5444312E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33677BB-F48F-44CD-543F-4A8DE41EE7B6}"/>
              </a:ext>
            </a:extLst>
          </p:cNvPr>
          <p:cNvSpPr>
            <a:spLocks noGrp="1"/>
          </p:cNvSpPr>
          <p:nvPr>
            <p:ph idx="1"/>
          </p:nvPr>
        </p:nvSpPr>
        <p:spPr>
          <a:xfrm>
            <a:off x="341194" y="1907458"/>
            <a:ext cx="11436823" cy="4137880"/>
          </a:xfrm>
        </p:spPr>
        <p:txBody>
          <a:bodyPr>
            <a:normAutofit/>
          </a:bodyPr>
          <a:lstStyle/>
          <a:p>
            <a:r>
              <a:rPr lang="en-IN" b="1" dirty="0"/>
              <a:t>Authors: </a:t>
            </a:r>
            <a:r>
              <a:rPr lang="da-DK" dirty="0"/>
              <a:t>Forgiveman Mokgomola et al. (2024)</a:t>
            </a:r>
          </a:p>
          <a:p>
            <a:r>
              <a:rPr lang="en-US" b="1" dirty="0"/>
              <a:t>Journal:</a:t>
            </a:r>
            <a:r>
              <a:rPr lang="en-US" dirty="0"/>
              <a:t> </a:t>
            </a:r>
            <a:r>
              <a:rPr lang="en-IN" i="1" dirty="0"/>
              <a:t>Procedia Computer Science (Q2 Journal)</a:t>
            </a:r>
            <a:endParaRPr lang="en-IN" dirty="0"/>
          </a:p>
          <a:p>
            <a:r>
              <a:rPr lang="en-IN" b="1" dirty="0"/>
              <a:t>Short Description: </a:t>
            </a:r>
            <a:r>
              <a:rPr lang="en-US" dirty="0"/>
              <a:t>It highlights the key challenges in today’s agri-food supply chains, including </a:t>
            </a:r>
            <a:r>
              <a:rPr lang="en-US" b="1" dirty="0"/>
              <a:t>lack of transparency, poor traceability, and food safety risks</a:t>
            </a:r>
            <a:r>
              <a:rPr lang="en-US" dirty="0"/>
              <a:t> caused by centralized systems.</a:t>
            </a:r>
          </a:p>
          <a:p>
            <a:r>
              <a:rPr lang="en-US" dirty="0"/>
              <a:t>The proposed solution introduces an </a:t>
            </a:r>
            <a:r>
              <a:rPr lang="en-US" b="1" dirty="0"/>
              <a:t>Ethereum-based Blockchain DApp</a:t>
            </a:r>
            <a:r>
              <a:rPr lang="en-US" dirty="0"/>
              <a:t> leveraging </a:t>
            </a:r>
            <a:r>
              <a:rPr lang="en-US" b="1" dirty="0"/>
              <a:t>Smart Contracts</a:t>
            </a:r>
            <a:r>
              <a:rPr lang="en-US" dirty="0"/>
              <a:t> written in </a:t>
            </a:r>
            <a:r>
              <a:rPr lang="en-US" b="1" dirty="0"/>
              <a:t>Solidity</a:t>
            </a:r>
            <a:r>
              <a:rPr lang="en-US" dirty="0"/>
              <a:t>.</a:t>
            </a:r>
          </a:p>
        </p:txBody>
      </p:sp>
      <p:sp>
        <p:nvSpPr>
          <p:cNvPr id="3" name="Title 2">
            <a:extLst>
              <a:ext uri="{FF2B5EF4-FFF2-40B4-BE49-F238E27FC236}">
                <a16:creationId xmlns:a16="http://schemas.microsoft.com/office/drawing/2014/main" id="{E79FBA64-E13C-5EE9-9577-698A70F198EC}"/>
              </a:ext>
            </a:extLst>
          </p:cNvPr>
          <p:cNvSpPr>
            <a:spLocks noGrp="1"/>
          </p:cNvSpPr>
          <p:nvPr>
            <p:ph type="title"/>
          </p:nvPr>
        </p:nvSpPr>
        <p:spPr>
          <a:xfrm>
            <a:off x="341194" y="147484"/>
            <a:ext cx="11436823" cy="1523999"/>
          </a:xfrm>
        </p:spPr>
        <p:txBody>
          <a:bodyPr/>
          <a:lstStyle/>
          <a:p>
            <a:r>
              <a:rPr lang="en-US" sz="3600" b="1" dirty="0"/>
              <a:t>Blockchain and Smart Contracts Based Agricultural Supply Chain</a:t>
            </a:r>
          </a:p>
        </p:txBody>
      </p:sp>
      <p:sp>
        <p:nvSpPr>
          <p:cNvPr id="4" name="Slide Number Placeholder 3">
            <a:extLst>
              <a:ext uri="{FF2B5EF4-FFF2-40B4-BE49-F238E27FC236}">
                <a16:creationId xmlns:a16="http://schemas.microsoft.com/office/drawing/2014/main" id="{7F80207B-A30F-6AF9-203D-FF0E23894257}"/>
              </a:ext>
            </a:extLst>
          </p:cNvPr>
          <p:cNvSpPr>
            <a:spLocks noGrp="1"/>
          </p:cNvSpPr>
          <p:nvPr>
            <p:ph type="sldNum" sz="quarter" idx="12"/>
          </p:nvPr>
        </p:nvSpPr>
        <p:spPr/>
        <p:txBody>
          <a:bodyPr/>
          <a:lstStyle/>
          <a:p>
            <a:fld id="{71766878-3199-4EAB-94E7-2D6D11070E14}" type="slidenum">
              <a:rPr lang="en-US" smtClean="0"/>
              <a:pPr/>
              <a:t>24</a:t>
            </a:fld>
            <a:endParaRPr lang="en-US"/>
          </a:p>
        </p:txBody>
      </p:sp>
    </p:spTree>
    <p:extLst>
      <p:ext uri="{BB962C8B-B14F-4D97-AF65-F5344CB8AC3E}">
        <p14:creationId xmlns:p14="http://schemas.microsoft.com/office/powerpoint/2010/main" val="8254248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C96BF-E7A5-C772-D4D9-C5DB4B1C5D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9D5BF4-0502-B1DC-B4A5-BF0B108043DA}"/>
              </a:ext>
            </a:extLst>
          </p:cNvPr>
          <p:cNvSpPr>
            <a:spLocks noGrp="1"/>
          </p:cNvSpPr>
          <p:nvPr>
            <p:ph idx="1"/>
          </p:nvPr>
        </p:nvSpPr>
        <p:spPr>
          <a:xfrm>
            <a:off x="341194" y="1671483"/>
            <a:ext cx="11436823" cy="4137880"/>
          </a:xfrm>
        </p:spPr>
        <p:txBody>
          <a:bodyPr>
            <a:noAutofit/>
          </a:bodyPr>
          <a:lstStyle/>
          <a:p>
            <a:r>
              <a:rPr lang="en-US" dirty="0"/>
              <a:t>Built and tested </a:t>
            </a:r>
            <a:r>
              <a:rPr lang="en-US" b="1" dirty="0"/>
              <a:t>Smart Contracts</a:t>
            </a:r>
            <a:r>
              <a:rPr lang="en-US" dirty="0"/>
              <a:t> using </a:t>
            </a:r>
            <a:r>
              <a:rPr lang="en-US" b="1" dirty="0"/>
              <a:t>Remix IDE</a:t>
            </a:r>
            <a:r>
              <a:rPr lang="en-US" dirty="0"/>
              <a:t> and </a:t>
            </a:r>
            <a:r>
              <a:rPr lang="en-US" b="1" dirty="0"/>
              <a:t>Solidity</a:t>
            </a:r>
            <a:r>
              <a:rPr lang="en-US" dirty="0"/>
              <a:t>.</a:t>
            </a:r>
          </a:p>
          <a:p>
            <a:r>
              <a:rPr lang="en-US" dirty="0"/>
              <a:t>Used </a:t>
            </a:r>
            <a:r>
              <a:rPr lang="en-US" b="1" dirty="0"/>
              <a:t>Ganache</a:t>
            </a:r>
            <a:r>
              <a:rPr lang="en-US" dirty="0"/>
              <a:t> to create a personal Ethereum blockchain for testing.</a:t>
            </a:r>
          </a:p>
          <a:p>
            <a:r>
              <a:rPr lang="en-US" dirty="0"/>
              <a:t>Employed </a:t>
            </a:r>
            <a:r>
              <a:rPr lang="en-US" b="1" dirty="0" err="1"/>
              <a:t>Metamask</a:t>
            </a:r>
            <a:r>
              <a:rPr lang="en-US" dirty="0"/>
              <a:t> as a browser wallet to interact with the Ethereum network. Developed the DApp interface.</a:t>
            </a:r>
          </a:p>
          <a:p>
            <a:r>
              <a:rPr lang="en-US" dirty="0"/>
              <a:t>Leveraged the </a:t>
            </a:r>
            <a:r>
              <a:rPr lang="en-US" b="1" dirty="0"/>
              <a:t>Truffle Suite</a:t>
            </a:r>
            <a:r>
              <a:rPr lang="en-US" dirty="0"/>
              <a:t> (Truffle, Ganache, Drizzle) for development and testing.</a:t>
            </a:r>
          </a:p>
          <a:p>
            <a:r>
              <a:rPr lang="en-US" dirty="0"/>
              <a:t>Used Web3 to interface with Ethereum nodes (implies potential Java integration, though main app seems web-based).</a:t>
            </a:r>
          </a:p>
          <a:p>
            <a:endParaRPr lang="en-US" dirty="0"/>
          </a:p>
          <a:p>
            <a:endParaRPr lang="en-US" dirty="0"/>
          </a:p>
          <a:p>
            <a:pPr marL="514350" indent="-514350">
              <a:buFont typeface="+mj-lt"/>
              <a:buAutoNum type="arabicPeriod"/>
            </a:pPr>
            <a:endParaRPr lang="en-US" dirty="0"/>
          </a:p>
          <a:p>
            <a:endParaRPr lang="en-IN" b="1" dirty="0"/>
          </a:p>
          <a:p>
            <a:endParaRPr lang="en-IN" b="1" dirty="0"/>
          </a:p>
        </p:txBody>
      </p:sp>
      <p:sp>
        <p:nvSpPr>
          <p:cNvPr id="3" name="Title 2">
            <a:extLst>
              <a:ext uri="{FF2B5EF4-FFF2-40B4-BE49-F238E27FC236}">
                <a16:creationId xmlns:a16="http://schemas.microsoft.com/office/drawing/2014/main" id="{22E23E20-89D0-83D7-AED4-70EE69F87A5D}"/>
              </a:ext>
            </a:extLst>
          </p:cNvPr>
          <p:cNvSpPr>
            <a:spLocks noGrp="1"/>
          </p:cNvSpPr>
          <p:nvPr>
            <p:ph type="title"/>
          </p:nvPr>
        </p:nvSpPr>
        <p:spPr>
          <a:xfrm>
            <a:off x="341194" y="348660"/>
            <a:ext cx="11436823" cy="1322823"/>
          </a:xfrm>
        </p:spPr>
        <p:txBody>
          <a:bodyPr/>
          <a:lstStyle/>
          <a:p>
            <a:pPr algn="ctr"/>
            <a:r>
              <a:rPr lang="en-IN" sz="4500" b="1" dirty="0"/>
              <a:t>Methodology</a:t>
            </a:r>
          </a:p>
        </p:txBody>
      </p:sp>
      <p:sp>
        <p:nvSpPr>
          <p:cNvPr id="4" name="Slide Number Placeholder 3">
            <a:extLst>
              <a:ext uri="{FF2B5EF4-FFF2-40B4-BE49-F238E27FC236}">
                <a16:creationId xmlns:a16="http://schemas.microsoft.com/office/drawing/2014/main" id="{DDD0B009-CA1D-AD7E-7116-A74524193FFE}"/>
              </a:ext>
            </a:extLst>
          </p:cNvPr>
          <p:cNvSpPr>
            <a:spLocks noGrp="1"/>
          </p:cNvSpPr>
          <p:nvPr>
            <p:ph type="sldNum" sz="quarter" idx="12"/>
          </p:nvPr>
        </p:nvSpPr>
        <p:spPr/>
        <p:txBody>
          <a:bodyPr/>
          <a:lstStyle/>
          <a:p>
            <a:fld id="{71766878-3199-4EAB-94E7-2D6D11070E14}" type="slidenum">
              <a:rPr lang="en-US" smtClean="0"/>
              <a:pPr/>
              <a:t>25</a:t>
            </a:fld>
            <a:endParaRPr lang="en-US"/>
          </a:p>
        </p:txBody>
      </p:sp>
    </p:spTree>
    <p:extLst>
      <p:ext uri="{BB962C8B-B14F-4D97-AF65-F5344CB8AC3E}">
        <p14:creationId xmlns:p14="http://schemas.microsoft.com/office/powerpoint/2010/main" val="4488433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1FA2F-91BB-0EE3-875C-C068200D7A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4D9F02-B755-AE2D-69AE-399EEC9B0083}"/>
              </a:ext>
            </a:extLst>
          </p:cNvPr>
          <p:cNvSpPr>
            <a:spLocks noGrp="1"/>
          </p:cNvSpPr>
          <p:nvPr>
            <p:ph idx="1"/>
          </p:nvPr>
        </p:nvSpPr>
        <p:spPr>
          <a:xfrm>
            <a:off x="341194" y="1671483"/>
            <a:ext cx="11436823" cy="4137880"/>
          </a:xfrm>
        </p:spPr>
        <p:txBody>
          <a:bodyPr>
            <a:noAutofit/>
          </a:bodyPr>
          <a:lstStyle/>
          <a:p>
            <a:r>
              <a:rPr lang="en-US" b="1" dirty="0"/>
              <a:t>Transparency:</a:t>
            </a:r>
            <a:r>
              <a:rPr lang="en-US" dirty="0"/>
              <a:t> Authorized participants can view the relevant data on the shared ledger.</a:t>
            </a:r>
          </a:p>
          <a:p>
            <a:r>
              <a:rPr lang="en-US" b="1" dirty="0"/>
              <a:t>Security:</a:t>
            </a:r>
            <a:r>
              <a:rPr lang="en-US" dirty="0"/>
              <a:t> Cryptographic hashing links blocks and secures transactions. Requires private keys for actions.</a:t>
            </a:r>
          </a:p>
          <a:p>
            <a:r>
              <a:rPr lang="en-US" b="1" dirty="0"/>
              <a:t>Traceability:</a:t>
            </a:r>
            <a:r>
              <a:rPr lang="en-US" dirty="0"/>
              <a:t> Enables tracking of product origin and potentially its journey through the supply chain.</a:t>
            </a:r>
          </a:p>
          <a:p>
            <a:r>
              <a:rPr lang="en-IN" b="1" dirty="0"/>
              <a:t>Automation (via Smart Contracts): </a:t>
            </a:r>
            <a:r>
              <a:rPr lang="en-IN" dirty="0"/>
              <a:t>Rules are enforced automatically, reduces need for intermediaries, and enables trustless transactions, potential for automated payments.</a:t>
            </a:r>
          </a:p>
          <a:p>
            <a:endParaRPr lang="en-IN" dirty="0"/>
          </a:p>
          <a:p>
            <a:endParaRPr lang="en-US" dirty="0"/>
          </a:p>
          <a:p>
            <a:endParaRPr lang="en-US" dirty="0"/>
          </a:p>
          <a:p>
            <a:endParaRPr lang="en-US" dirty="0"/>
          </a:p>
          <a:p>
            <a:pPr marL="514350" indent="-514350">
              <a:buFont typeface="+mj-lt"/>
              <a:buAutoNum type="arabicPeriod"/>
            </a:pPr>
            <a:endParaRPr lang="en-US" dirty="0"/>
          </a:p>
          <a:p>
            <a:endParaRPr lang="en-IN" b="1" dirty="0"/>
          </a:p>
          <a:p>
            <a:endParaRPr lang="en-IN" b="1" dirty="0"/>
          </a:p>
        </p:txBody>
      </p:sp>
      <p:sp>
        <p:nvSpPr>
          <p:cNvPr id="3" name="Title 2">
            <a:extLst>
              <a:ext uri="{FF2B5EF4-FFF2-40B4-BE49-F238E27FC236}">
                <a16:creationId xmlns:a16="http://schemas.microsoft.com/office/drawing/2014/main" id="{BAC4E701-F716-D5E5-A05A-6A55E719008B}"/>
              </a:ext>
            </a:extLst>
          </p:cNvPr>
          <p:cNvSpPr>
            <a:spLocks noGrp="1"/>
          </p:cNvSpPr>
          <p:nvPr>
            <p:ph type="title"/>
          </p:nvPr>
        </p:nvSpPr>
        <p:spPr>
          <a:xfrm>
            <a:off x="341194" y="348660"/>
            <a:ext cx="11436823" cy="1322823"/>
          </a:xfrm>
        </p:spPr>
        <p:txBody>
          <a:bodyPr/>
          <a:lstStyle/>
          <a:p>
            <a:pPr algn="ctr"/>
            <a:r>
              <a:rPr lang="en-IN" sz="4500" b="1" dirty="0"/>
              <a:t>Key Takeaways</a:t>
            </a:r>
          </a:p>
        </p:txBody>
      </p:sp>
      <p:sp>
        <p:nvSpPr>
          <p:cNvPr id="4" name="Slide Number Placeholder 3">
            <a:extLst>
              <a:ext uri="{FF2B5EF4-FFF2-40B4-BE49-F238E27FC236}">
                <a16:creationId xmlns:a16="http://schemas.microsoft.com/office/drawing/2014/main" id="{A22F434C-A4E7-E37D-A5D8-A4ADCD264B19}"/>
              </a:ext>
            </a:extLst>
          </p:cNvPr>
          <p:cNvSpPr>
            <a:spLocks noGrp="1"/>
          </p:cNvSpPr>
          <p:nvPr>
            <p:ph type="sldNum" sz="quarter" idx="12"/>
          </p:nvPr>
        </p:nvSpPr>
        <p:spPr/>
        <p:txBody>
          <a:bodyPr/>
          <a:lstStyle/>
          <a:p>
            <a:fld id="{71766878-3199-4EAB-94E7-2D6D11070E14}" type="slidenum">
              <a:rPr lang="en-US" smtClean="0"/>
              <a:pPr/>
              <a:t>26</a:t>
            </a:fld>
            <a:endParaRPr lang="en-US"/>
          </a:p>
        </p:txBody>
      </p:sp>
    </p:spTree>
    <p:extLst>
      <p:ext uri="{BB962C8B-B14F-4D97-AF65-F5344CB8AC3E}">
        <p14:creationId xmlns:p14="http://schemas.microsoft.com/office/powerpoint/2010/main" val="35219737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564A311-26D6-DA71-E536-A31ADF7F4D30}"/>
              </a:ext>
            </a:extLst>
          </p:cNvPr>
          <p:cNvSpPr>
            <a:spLocks noGrp="1"/>
          </p:cNvSpPr>
          <p:nvPr>
            <p:ph type="sldNum" sz="quarter" idx="12"/>
          </p:nvPr>
        </p:nvSpPr>
        <p:spPr/>
        <p:txBody>
          <a:bodyPr/>
          <a:lstStyle/>
          <a:p>
            <a:fld id="{71766878-3199-4EAB-94E7-2D6D11070E14}" type="slidenum">
              <a:rPr lang="en-US" smtClean="0"/>
              <a:pPr/>
              <a:t>27</a:t>
            </a:fld>
            <a:endParaRPr lang="en-US"/>
          </a:p>
        </p:txBody>
      </p:sp>
      <p:graphicFrame>
        <p:nvGraphicFramePr>
          <p:cNvPr id="8" name="Content Placeholder 7">
            <a:extLst>
              <a:ext uri="{FF2B5EF4-FFF2-40B4-BE49-F238E27FC236}">
                <a16:creationId xmlns:a16="http://schemas.microsoft.com/office/drawing/2014/main" id="{7A1FC9D4-9092-DE1F-B143-FAE1F2B8C887}"/>
              </a:ext>
            </a:extLst>
          </p:cNvPr>
          <p:cNvGraphicFramePr>
            <a:graphicFrameLocks noGrp="1"/>
          </p:cNvGraphicFramePr>
          <p:nvPr>
            <p:ph idx="1"/>
            <p:extLst>
              <p:ext uri="{D42A27DB-BD31-4B8C-83A1-F6EECF244321}">
                <p14:modId xmlns:p14="http://schemas.microsoft.com/office/powerpoint/2010/main" val="2003163880"/>
              </p:ext>
            </p:extLst>
          </p:nvPr>
        </p:nvGraphicFramePr>
        <p:xfrm>
          <a:off x="0" y="14124"/>
          <a:ext cx="12192000" cy="6937282"/>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1220170675"/>
                    </a:ext>
                  </a:extLst>
                </a:gridCol>
                <a:gridCol w="2032000">
                  <a:extLst>
                    <a:ext uri="{9D8B030D-6E8A-4147-A177-3AD203B41FA5}">
                      <a16:colId xmlns:a16="http://schemas.microsoft.com/office/drawing/2014/main" val="3514358026"/>
                    </a:ext>
                  </a:extLst>
                </a:gridCol>
                <a:gridCol w="2032000">
                  <a:extLst>
                    <a:ext uri="{9D8B030D-6E8A-4147-A177-3AD203B41FA5}">
                      <a16:colId xmlns:a16="http://schemas.microsoft.com/office/drawing/2014/main" val="4294307315"/>
                    </a:ext>
                  </a:extLst>
                </a:gridCol>
                <a:gridCol w="2032000">
                  <a:extLst>
                    <a:ext uri="{9D8B030D-6E8A-4147-A177-3AD203B41FA5}">
                      <a16:colId xmlns:a16="http://schemas.microsoft.com/office/drawing/2014/main" val="2021901699"/>
                    </a:ext>
                  </a:extLst>
                </a:gridCol>
                <a:gridCol w="2032000">
                  <a:extLst>
                    <a:ext uri="{9D8B030D-6E8A-4147-A177-3AD203B41FA5}">
                      <a16:colId xmlns:a16="http://schemas.microsoft.com/office/drawing/2014/main" val="559516042"/>
                    </a:ext>
                  </a:extLst>
                </a:gridCol>
                <a:gridCol w="2032000">
                  <a:extLst>
                    <a:ext uri="{9D8B030D-6E8A-4147-A177-3AD203B41FA5}">
                      <a16:colId xmlns:a16="http://schemas.microsoft.com/office/drawing/2014/main" val="3818861865"/>
                    </a:ext>
                  </a:extLst>
                </a:gridCol>
              </a:tblGrid>
              <a:tr h="518952">
                <a:tc>
                  <a:txBody>
                    <a:bodyPr/>
                    <a:lstStyle/>
                    <a:p>
                      <a:pPr algn="ctr">
                        <a:lnSpc>
                          <a:spcPct val="107000"/>
                        </a:lnSpc>
                        <a:spcAft>
                          <a:spcPts val="800"/>
                        </a:spcAft>
                        <a:buNone/>
                      </a:pPr>
                      <a:r>
                        <a:rPr lang="en-IN" sz="1400" b="1"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Paper Name</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Year of Publication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Name of the Journal</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Work Done in the Paper</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Research Gaps and Challenges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Research Domain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760155"/>
                  </a:ext>
                </a:extLst>
              </a:tr>
              <a:tr h="3505159">
                <a:tc>
                  <a:txBody>
                    <a:bodyPr/>
                    <a:lstStyle/>
                    <a:p>
                      <a:pPr algn="ctr">
                        <a:lnSpc>
                          <a:spcPct val="107000"/>
                        </a:lnSpc>
                        <a:spcAft>
                          <a:spcPts val="800"/>
                        </a:spcAft>
                        <a:buNone/>
                      </a:pPr>
                      <a:r>
                        <a:rPr lang="en-US" sz="1400" kern="100" dirty="0">
                          <a:effectLst/>
                          <a:latin typeface="Times New Roman" panose="02020603050405020304" pitchFamily="18" charset="0"/>
                          <a:ea typeface="Calibri" panose="020F0502020204030204" pitchFamily="34" charset="0"/>
                          <a:cs typeface="Times New Roman" panose="02020603050405020304" pitchFamily="18" charset="0"/>
                        </a:rPr>
                        <a:t>Blockchain Technology Characteristics Essential for the Agri-Food Sector</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Food Control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https://surl.li/oxljvi</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Reviews 41 empirical articles to identify, categorize, and evaluate the essential characteristics of blockchain (immutability, decentralization, and automation)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Implementation barriers consist of high costs.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Need for technical expertise, stakeholder resistance</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a:effectLst/>
                          <a:latin typeface="Times New Roman" panose="02020603050405020304" pitchFamily="18" charset="0"/>
                          <a:ea typeface="Calibri" panose="020F0502020204030204" pitchFamily="34" charset="0"/>
                          <a:cs typeface="Times New Roman" panose="02020603050405020304" pitchFamily="18" charset="0"/>
                        </a:rPr>
                        <a:t>The absence of standardized regulations.</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Agriculture and Blockchain</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54409129"/>
                  </a:ext>
                </a:extLst>
              </a:tr>
              <a:tr h="2913171">
                <a:tc>
                  <a:txBody>
                    <a:bodyPr/>
                    <a:lstStyle/>
                    <a:p>
                      <a:pPr algn="ctr">
                        <a:lnSpc>
                          <a:spcPct val="107000"/>
                        </a:lnSpc>
                        <a:spcAft>
                          <a:spcPts val="800"/>
                        </a:spcAft>
                        <a:buNone/>
                      </a:pPr>
                      <a:r>
                        <a:rPr lang="en-US" sz="1400" kern="100">
                          <a:effectLst/>
                          <a:latin typeface="Times New Roman" panose="02020603050405020304" pitchFamily="18" charset="0"/>
                          <a:ea typeface="Calibri" panose="020F0502020204030204" pitchFamily="34" charset="0"/>
                          <a:cs typeface="Times New Roman" panose="02020603050405020304" pitchFamily="18" charset="0"/>
                        </a:rPr>
                        <a:t>Blockchain-based fresh food quality traceability and dynamic monitoring</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Computers and Electronics in Agriculture (2024) (Q1 Journal)</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400" u="sng" kern="100" dirty="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https://shorturl.at/oIzf5</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Reviews how blockchain technology can be integrated with new traceability techniques (like spectroscopy and DNA) and dynamic monitoring sensors (like gas sensors and e-nose) to ensure fresh food quality and safety.</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Efficiency and Cost</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Lack of Uniform Standards</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400" kern="100" dirty="0">
                          <a:effectLst/>
                          <a:latin typeface="Times New Roman" panose="02020603050405020304" pitchFamily="18" charset="0"/>
                          <a:ea typeface="Calibri" panose="020F0502020204030204" pitchFamily="34" charset="0"/>
                          <a:cs typeface="Times New Roman" panose="02020603050405020304" pitchFamily="18" charset="0"/>
                        </a:rPr>
                        <a:t>Commercial Implementation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40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Agriculture and Blockchain</a:t>
                      </a:r>
                      <a:endParaRPr lang="en-IN"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66980440"/>
                  </a:ext>
                </a:extLst>
              </a:tr>
            </a:tbl>
          </a:graphicData>
        </a:graphic>
      </p:graphicFrame>
    </p:spTree>
    <p:extLst>
      <p:ext uri="{BB962C8B-B14F-4D97-AF65-F5344CB8AC3E}">
        <p14:creationId xmlns:p14="http://schemas.microsoft.com/office/powerpoint/2010/main" val="21567711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7264A52D-D129-7FF4-7ABD-87A40ACD2172}"/>
              </a:ext>
            </a:extLst>
          </p:cNvPr>
          <p:cNvGraphicFramePr>
            <a:graphicFrameLocks noGrp="1"/>
          </p:cNvGraphicFramePr>
          <p:nvPr>
            <p:ph idx="1"/>
            <p:extLst>
              <p:ext uri="{D42A27DB-BD31-4B8C-83A1-F6EECF244321}">
                <p14:modId xmlns:p14="http://schemas.microsoft.com/office/powerpoint/2010/main" val="3556716143"/>
              </p:ext>
            </p:extLst>
          </p:nvPr>
        </p:nvGraphicFramePr>
        <p:xfrm>
          <a:off x="0" y="0"/>
          <a:ext cx="12192000" cy="6941573"/>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79863858"/>
                    </a:ext>
                  </a:extLst>
                </a:gridCol>
                <a:gridCol w="2032000">
                  <a:extLst>
                    <a:ext uri="{9D8B030D-6E8A-4147-A177-3AD203B41FA5}">
                      <a16:colId xmlns:a16="http://schemas.microsoft.com/office/drawing/2014/main" val="2853598364"/>
                    </a:ext>
                  </a:extLst>
                </a:gridCol>
                <a:gridCol w="2032000">
                  <a:extLst>
                    <a:ext uri="{9D8B030D-6E8A-4147-A177-3AD203B41FA5}">
                      <a16:colId xmlns:a16="http://schemas.microsoft.com/office/drawing/2014/main" val="1275372038"/>
                    </a:ext>
                  </a:extLst>
                </a:gridCol>
                <a:gridCol w="2032000">
                  <a:extLst>
                    <a:ext uri="{9D8B030D-6E8A-4147-A177-3AD203B41FA5}">
                      <a16:colId xmlns:a16="http://schemas.microsoft.com/office/drawing/2014/main" val="4055060532"/>
                    </a:ext>
                  </a:extLst>
                </a:gridCol>
                <a:gridCol w="2032000">
                  <a:extLst>
                    <a:ext uri="{9D8B030D-6E8A-4147-A177-3AD203B41FA5}">
                      <a16:colId xmlns:a16="http://schemas.microsoft.com/office/drawing/2014/main" val="2871865484"/>
                    </a:ext>
                  </a:extLst>
                </a:gridCol>
                <a:gridCol w="2032000">
                  <a:extLst>
                    <a:ext uri="{9D8B030D-6E8A-4147-A177-3AD203B41FA5}">
                      <a16:colId xmlns:a16="http://schemas.microsoft.com/office/drawing/2014/main" val="771242280"/>
                    </a:ext>
                  </a:extLst>
                </a:gridCol>
              </a:tblGrid>
              <a:tr h="2498151">
                <a:tc>
                  <a:txBody>
                    <a:bodyPr/>
                    <a:lstStyle/>
                    <a:p>
                      <a:pPr algn="ct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Information needs for transparency in blockchain-enabled sustainable food supply chains</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International Journal of Information Management Data Insights (2024) (Q1 Journal)</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u="sng"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https://shorturl.at/7D9IJ</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Identified 14 key information needs, grouped into:</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Product and quality details.</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Production and processing information.</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Sustainability information.</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study’s focus on Dutch alternative food chains, data verification challenges, limited stakeholder blockchain expertise, potential expert bias, and lack of business-level validation constrain its global applicability and practical impact.</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Agriculture and Blockchain</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0778139"/>
                  </a:ext>
                </a:extLst>
              </a:tr>
              <a:tr h="2221711">
                <a:tc>
                  <a:txBody>
                    <a:bodyPr/>
                    <a:lstStyle/>
                    <a:p>
                      <a:pPr algn="ct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Agri-food traceability today: Advancing innovation towards efficiency, sustainability, ethical sourcing, and safety in food supply chains</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i="1" kern="100">
                          <a:effectLst/>
                          <a:latin typeface="Times New Roman" panose="02020603050405020304" pitchFamily="18" charset="0"/>
                          <a:ea typeface="Calibri" panose="020F0502020204030204" pitchFamily="34" charset="0"/>
                          <a:cs typeface="Times New Roman" panose="02020603050405020304" pitchFamily="18" charset="0"/>
                        </a:rPr>
                        <a:t>Trends in Food Science &amp; Technology (2025) </a:t>
                      </a: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u="sng" kern="10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https://shorturl.at/9j8gJ</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The paper offers a comprehensive roadmap for modern agri-food traceability, defining key concepts, reviewing global regulations, proposing a two-dimensional classification system, detailing advanced analytical and digital technologies, and demonstrating applications through case studies on wine, garlic, and coffee.</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Key challenges include fragmented supply chains, analytical tool limitations, digital technology hurdles (like blockchain reliability and IoT issues), lack of standardization, data privacy concerns, and the need for digital inclusion of all participants, especially small farmers.</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Agriculture</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50847924"/>
                  </a:ext>
                </a:extLst>
              </a:tr>
              <a:tr h="2221711">
                <a:tc>
                  <a:txBody>
                    <a:bodyPr/>
                    <a:lstStyle/>
                    <a:p>
                      <a:pPr algn="ct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A review of smart contract adoption in agriculture and food industry</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b="1"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i="1" kern="100">
                          <a:effectLst/>
                          <a:latin typeface="Times New Roman" panose="02020603050405020304" pitchFamily="18" charset="0"/>
                          <a:ea typeface="Calibri" panose="020F0502020204030204" pitchFamily="34" charset="0"/>
                          <a:cs typeface="Times New Roman" panose="02020603050405020304" pitchFamily="18" charset="0"/>
                        </a:rPr>
                        <a:t>Computers and Electronics in Agriculture (2024) </a:t>
                      </a: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b="1"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050" u="sng" kern="100">
                          <a:solidFill>
                            <a:srgbClr val="0070C0"/>
                          </a:solidFill>
                          <a:effectLst/>
                          <a:latin typeface="Times New Roman" panose="02020603050405020304" pitchFamily="18" charset="0"/>
                          <a:ea typeface="Calibri" panose="020F0502020204030204" pitchFamily="34" charset="0"/>
                          <a:cs typeface="Times New Roman" panose="02020603050405020304" pitchFamily="18" charset="0"/>
                        </a:rPr>
                        <a:t>https://shorturl.at/FG6qa</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The paper comprehensively reviews smart contract adoption in agriculture and food sectors, outlining their life cycle, comparing major blockchain platforms, exploring diverse applications from DeFi to traceability and automation, and highlighting real-world implementations by companies and governments worldwide.</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050" kern="10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dependence on off-chain data, difficulty correcting immutable code, energy and security issues in consensus mechanisms, reliance on active nodes, legal and regulatory uncertainty, bureaucratic barriers, and high implementation costs limiting accessibility for small farmers.</a:t>
                      </a:r>
                      <a:endParaRPr lang="en-IN" sz="105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050" kern="1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Agriculture and Blockchain</a:t>
                      </a:r>
                      <a:endParaRPr lang="en-IN" sz="105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24736958"/>
                  </a:ext>
                </a:extLst>
              </a:tr>
            </a:tbl>
          </a:graphicData>
        </a:graphic>
      </p:graphicFrame>
      <p:sp>
        <p:nvSpPr>
          <p:cNvPr id="4" name="Slide Number Placeholder 3">
            <a:extLst>
              <a:ext uri="{FF2B5EF4-FFF2-40B4-BE49-F238E27FC236}">
                <a16:creationId xmlns:a16="http://schemas.microsoft.com/office/drawing/2014/main" id="{376F765F-171C-86D1-0C60-580A7EB75507}"/>
              </a:ext>
            </a:extLst>
          </p:cNvPr>
          <p:cNvSpPr>
            <a:spLocks noGrp="1"/>
          </p:cNvSpPr>
          <p:nvPr>
            <p:ph type="sldNum" sz="quarter" idx="12"/>
          </p:nvPr>
        </p:nvSpPr>
        <p:spPr/>
        <p:txBody>
          <a:bodyPr/>
          <a:lstStyle/>
          <a:p>
            <a:fld id="{71766878-3199-4EAB-94E7-2D6D11070E14}" type="slidenum">
              <a:rPr lang="en-US" smtClean="0"/>
              <a:pPr/>
              <a:t>28</a:t>
            </a:fld>
            <a:endParaRPr lang="en-US"/>
          </a:p>
        </p:txBody>
      </p:sp>
    </p:spTree>
    <p:extLst>
      <p:ext uri="{BB962C8B-B14F-4D97-AF65-F5344CB8AC3E}">
        <p14:creationId xmlns:p14="http://schemas.microsoft.com/office/powerpoint/2010/main" val="42830910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F42924B8-2CF7-BAAB-8A91-7CEC6550CF40}"/>
              </a:ext>
            </a:extLst>
          </p:cNvPr>
          <p:cNvGraphicFramePr>
            <a:graphicFrameLocks noGrp="1"/>
          </p:cNvGraphicFramePr>
          <p:nvPr>
            <p:ph idx="1"/>
            <p:extLst>
              <p:ext uri="{D42A27DB-BD31-4B8C-83A1-F6EECF244321}">
                <p14:modId xmlns:p14="http://schemas.microsoft.com/office/powerpoint/2010/main" val="1032118421"/>
              </p:ext>
            </p:extLst>
          </p:nvPr>
        </p:nvGraphicFramePr>
        <p:xfrm>
          <a:off x="0" y="14124"/>
          <a:ext cx="12192000" cy="6843876"/>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456368325"/>
                    </a:ext>
                  </a:extLst>
                </a:gridCol>
                <a:gridCol w="2032000">
                  <a:extLst>
                    <a:ext uri="{9D8B030D-6E8A-4147-A177-3AD203B41FA5}">
                      <a16:colId xmlns:a16="http://schemas.microsoft.com/office/drawing/2014/main" val="3558215482"/>
                    </a:ext>
                  </a:extLst>
                </a:gridCol>
                <a:gridCol w="2032000">
                  <a:extLst>
                    <a:ext uri="{9D8B030D-6E8A-4147-A177-3AD203B41FA5}">
                      <a16:colId xmlns:a16="http://schemas.microsoft.com/office/drawing/2014/main" val="3857902893"/>
                    </a:ext>
                  </a:extLst>
                </a:gridCol>
                <a:gridCol w="2032000">
                  <a:extLst>
                    <a:ext uri="{9D8B030D-6E8A-4147-A177-3AD203B41FA5}">
                      <a16:colId xmlns:a16="http://schemas.microsoft.com/office/drawing/2014/main" val="2159482956"/>
                    </a:ext>
                  </a:extLst>
                </a:gridCol>
                <a:gridCol w="2032000">
                  <a:extLst>
                    <a:ext uri="{9D8B030D-6E8A-4147-A177-3AD203B41FA5}">
                      <a16:colId xmlns:a16="http://schemas.microsoft.com/office/drawing/2014/main" val="769839561"/>
                    </a:ext>
                  </a:extLst>
                </a:gridCol>
                <a:gridCol w="2032000">
                  <a:extLst>
                    <a:ext uri="{9D8B030D-6E8A-4147-A177-3AD203B41FA5}">
                      <a16:colId xmlns:a16="http://schemas.microsoft.com/office/drawing/2014/main" val="2723845732"/>
                    </a:ext>
                  </a:extLst>
                </a:gridCol>
              </a:tblGrid>
              <a:tr h="2433736">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Comparing blockchain and DAG technologies for smart agriculture traceability in terms of efficiency and latency</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2025</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i="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Simulation Modelling Practice and Theory (2025) </a:t>
                      </a: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u="sng"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https://shorturl.at/xGi2w</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study compares Bitcoin, Ethereum, and DAG (IOTA Tangle) for smart agriculture traceability, showing that DAG—especially with a weighted tip selection (α=0.8) achieves far lower transaction times and higher efficiency than Ethereum and Bitcoin under varying loads and latencies.</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Bitcoin’s low TPS and high energy use, Ethereum’s gas fees and scalability constraints (partly mitigated by PoS and Layer 2), and DAG’s complexity, security risks, and limited maturity; the study itself only analyses inclusion time under simplified, low-load conditions with assumed honest nodes.</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Blockchain</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43108861"/>
                  </a:ext>
                </a:extLst>
              </a:tr>
              <a:tr h="2352248">
                <a:tc>
                  <a:txBody>
                    <a:bodyPr/>
                    <a:lstStyle/>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Smart agriculture assurance: IoT and blockchain for trusted sustainable produce</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Computers and Electronics in Agriculture (2024) </a:t>
                      </a: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u="sng"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https://shorturl.at/nxpzr</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study presents an integrated IoT–Blockchain framework using sensors, AI-driven oracles, smart contracts, and IPFS storage to verify sustainable farming certifications, enhance consumer trust, and provide transparent farm-to-table traceability accessible via QR codes.</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high IoT and blockchain costs, scalability challenges, potential smart contract vulnerabilities, integration difficulties with legacy systems, and unclear regulatory frameworks that may hinder widespread adoption.</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Agriculture, IoT, Blockchain</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0373"/>
                  </a:ext>
                </a:extLst>
              </a:tr>
              <a:tr h="2057892">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Assessing blockchain and IoT technologies for agricultural food supply chains in Africa: A feasibility analysis</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i="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Computers and Electronics in Agriculture (2024) </a:t>
                      </a: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100" u="sng"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https://tinyurl.com/56sb7xt5</a:t>
                      </a:r>
                      <a:endParaRPr lang="en-IN" sz="11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study assesses Blockchain and IoT feasibility in African agri-food supply chains using a PRISMA-based review and a modified TELO framework, revealing higher activity in Ghana and South Africa, key technical and operational challenges, and proposing Blockchain-as-a-Service to lower adoption barriers.</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infrastructural constraints, high implementation costs and unclear ROI, fragmented or lacking blockchain regulations, and low digital literacy with resistance to change—collectively hindering widespread adoption in Africa’s agricultural sector.</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Agriculture, IoT, Blockchain</a:t>
                      </a:r>
                      <a:endParaRPr lang="en-IN" sz="11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8040478"/>
                  </a:ext>
                </a:extLst>
              </a:tr>
            </a:tbl>
          </a:graphicData>
        </a:graphic>
      </p:graphicFrame>
      <p:sp>
        <p:nvSpPr>
          <p:cNvPr id="4" name="Slide Number Placeholder 3">
            <a:extLst>
              <a:ext uri="{FF2B5EF4-FFF2-40B4-BE49-F238E27FC236}">
                <a16:creationId xmlns:a16="http://schemas.microsoft.com/office/drawing/2014/main" id="{B4B42D53-C5FC-B005-8C43-701BF579C81D}"/>
              </a:ext>
            </a:extLst>
          </p:cNvPr>
          <p:cNvSpPr>
            <a:spLocks noGrp="1"/>
          </p:cNvSpPr>
          <p:nvPr>
            <p:ph type="sldNum" sz="quarter" idx="12"/>
          </p:nvPr>
        </p:nvSpPr>
        <p:spPr/>
        <p:txBody>
          <a:bodyPr/>
          <a:lstStyle/>
          <a:p>
            <a:fld id="{71766878-3199-4EAB-94E7-2D6D11070E14}" type="slidenum">
              <a:rPr lang="en-US" smtClean="0"/>
              <a:pPr/>
              <a:t>29</a:t>
            </a:fld>
            <a:endParaRPr lang="en-US"/>
          </a:p>
        </p:txBody>
      </p:sp>
    </p:spTree>
    <p:extLst>
      <p:ext uri="{BB962C8B-B14F-4D97-AF65-F5344CB8AC3E}">
        <p14:creationId xmlns:p14="http://schemas.microsoft.com/office/powerpoint/2010/main" val="15967546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4">
            <a:extLst>
              <a:ext uri="{FF2B5EF4-FFF2-40B4-BE49-F238E27FC236}">
                <a16:creationId xmlns:a16="http://schemas.microsoft.com/office/drawing/2014/main" id="{37D504CB-D855-CE5C-D88C-69D2FC143F34}"/>
              </a:ext>
            </a:extLst>
          </p:cNvPr>
          <p:cNvGraphicFramePr>
            <a:graphicFrameLocks noGrp="1"/>
          </p:cNvGraphicFramePr>
          <p:nvPr>
            <p:ph idx="1"/>
            <p:extLst>
              <p:ext uri="{D42A27DB-BD31-4B8C-83A1-F6EECF244321}">
                <p14:modId xmlns:p14="http://schemas.microsoft.com/office/powerpoint/2010/main" val="3074230635"/>
              </p:ext>
            </p:extLst>
          </p:nvPr>
        </p:nvGraphicFramePr>
        <p:xfrm>
          <a:off x="341194" y="559381"/>
          <a:ext cx="11436348" cy="5069206"/>
        </p:xfrm>
        <a:graphic>
          <a:graphicData uri="http://schemas.openxmlformats.org/drawingml/2006/table">
            <a:tbl>
              <a:tblPr firstRow="1" bandRow="1">
                <a:tableStyleId>{5C22544A-7EE6-4342-B048-85BDC9FD1C3A}</a:tableStyleId>
              </a:tblPr>
              <a:tblGrid>
                <a:gridCol w="1906058">
                  <a:extLst>
                    <a:ext uri="{9D8B030D-6E8A-4147-A177-3AD203B41FA5}">
                      <a16:colId xmlns:a16="http://schemas.microsoft.com/office/drawing/2014/main" val="1796402097"/>
                    </a:ext>
                  </a:extLst>
                </a:gridCol>
                <a:gridCol w="1906058">
                  <a:extLst>
                    <a:ext uri="{9D8B030D-6E8A-4147-A177-3AD203B41FA5}">
                      <a16:colId xmlns:a16="http://schemas.microsoft.com/office/drawing/2014/main" val="2059338762"/>
                    </a:ext>
                  </a:extLst>
                </a:gridCol>
                <a:gridCol w="1906058">
                  <a:extLst>
                    <a:ext uri="{9D8B030D-6E8A-4147-A177-3AD203B41FA5}">
                      <a16:colId xmlns:a16="http://schemas.microsoft.com/office/drawing/2014/main" val="3444559471"/>
                    </a:ext>
                  </a:extLst>
                </a:gridCol>
                <a:gridCol w="1906058">
                  <a:extLst>
                    <a:ext uri="{9D8B030D-6E8A-4147-A177-3AD203B41FA5}">
                      <a16:colId xmlns:a16="http://schemas.microsoft.com/office/drawing/2014/main" val="940005944"/>
                    </a:ext>
                  </a:extLst>
                </a:gridCol>
                <a:gridCol w="1906058">
                  <a:extLst>
                    <a:ext uri="{9D8B030D-6E8A-4147-A177-3AD203B41FA5}">
                      <a16:colId xmlns:a16="http://schemas.microsoft.com/office/drawing/2014/main" val="237250140"/>
                    </a:ext>
                  </a:extLst>
                </a:gridCol>
                <a:gridCol w="1906058">
                  <a:extLst>
                    <a:ext uri="{9D8B030D-6E8A-4147-A177-3AD203B41FA5}">
                      <a16:colId xmlns:a16="http://schemas.microsoft.com/office/drawing/2014/main" val="307544744"/>
                    </a:ext>
                  </a:extLst>
                </a:gridCol>
              </a:tblGrid>
              <a:tr h="695832">
                <a:tc>
                  <a:txBody>
                    <a:bodyPr/>
                    <a:lstStyle/>
                    <a:p>
                      <a:pPr algn="ctr">
                        <a:lnSpc>
                          <a:spcPct val="107000"/>
                        </a:lnSpc>
                        <a:spcAft>
                          <a:spcPts val="800"/>
                        </a:spcAft>
                        <a:buNone/>
                      </a:pP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Transforming agricultural supply chains: Leveraging blockchain-enabled java smart contracts and IoT integration</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i="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ICT Express (2024) </a:t>
                      </a: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(Q1 Journal)</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u="sng"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https://tinyurl.com/4hu2b4ku</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study introduces an IoT–Blockchain framework with Java-based smart contracts and data analytics to enhance transparency and automation in agriculture, featuring real-time sensor monitoring, a structured database system, and a user interface demonstrated through a Moroccan tomato case study.</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centralized database inefficiencies, limited agricultural blockchain research, IoT security vulnerabilities, smart contract coding risks, technological and financial barriers for small farmers, infrastructure constraints in resource-poor areas, and high energy consumption of blockchain and sensors.</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Agriculture, IoT, Blockchain</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455094"/>
                  </a:ext>
                </a:extLst>
              </a:tr>
              <a:tr h="370840">
                <a:tc>
                  <a:txBody>
                    <a:bodyPr/>
                    <a:lstStyle/>
                    <a:p>
                      <a:pPr algn="ctr">
                        <a:lnSpc>
                          <a:spcPct val="107000"/>
                        </a:lnSpc>
                        <a:spcAft>
                          <a:spcPts val="800"/>
                        </a:spcAft>
                        <a:buNone/>
                      </a:pPr>
                      <a:r>
                        <a:rPr lang="en-IN" sz="120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Blockchain and Smart Contracts Based Agricultural Supply Chain</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b="1"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(BASE PAPER)</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2024</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200" u="sng"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hlinkClick r:id="rId2" tooltip="Go to Procedia Computer Science on ScienceDirect">
                            <a:extLst>
                              <a:ext uri="{A12FA001-AC4F-418D-AE19-62706E023703}">
                                <ahyp:hlinkClr xmlns:ahyp="http://schemas.microsoft.com/office/drawing/2018/hyperlinkcolor" val="tx"/>
                              </a:ext>
                            </a:extLst>
                          </a:hlinkClick>
                        </a:rPr>
                        <a:t>Procedia Computer Science</a:t>
                      </a: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(2024) (Q2 Journal)</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buNone/>
                      </a:pP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 Link</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u="sng"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https://tinyurl.com/258v3rnz</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study presents an Ethereum-based DApp framework for agricultural supply chains that enhances product traceability, data integrity, and security through smart contracts, enabling transparent stakeholder interactions, cost reduction, and process automation such as weather-based crop insurance.</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buNone/>
                      </a:pPr>
                      <a:r>
                        <a:rPr lang="en-IN" sz="12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limitations include limited focus on process enforcement, lack of explicit on-chain ownership transfer, minimal role-based dynamic UI, and absence of product categorization between processed and organic foods.</a:t>
                      </a:r>
                      <a:endParaRPr lang="en-IN" sz="120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buNone/>
                      </a:pP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Agriculture and</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800"/>
                        </a:spcAft>
                        <a:buNone/>
                      </a:pPr>
                      <a:r>
                        <a:rPr lang="en-IN" sz="12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Blockchain</a:t>
                      </a:r>
                      <a:endParaRPr lang="en-IN" sz="12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49533623"/>
                  </a:ext>
                </a:extLst>
              </a:tr>
            </a:tbl>
          </a:graphicData>
        </a:graphic>
      </p:graphicFrame>
      <p:sp>
        <p:nvSpPr>
          <p:cNvPr id="4" name="Slide Number Placeholder 3">
            <a:extLst>
              <a:ext uri="{FF2B5EF4-FFF2-40B4-BE49-F238E27FC236}">
                <a16:creationId xmlns:a16="http://schemas.microsoft.com/office/drawing/2014/main" id="{F8FAB043-E50C-923D-1DED-A33A5BBB742B}"/>
              </a:ext>
            </a:extLst>
          </p:cNvPr>
          <p:cNvSpPr>
            <a:spLocks noGrp="1"/>
          </p:cNvSpPr>
          <p:nvPr>
            <p:ph type="sldNum" sz="quarter" idx="12"/>
          </p:nvPr>
        </p:nvSpPr>
        <p:spPr/>
        <p:txBody>
          <a:bodyPr/>
          <a:lstStyle/>
          <a:p>
            <a:fld id="{71766878-3199-4EAB-94E7-2D6D11070E14}" type="slidenum">
              <a:rPr lang="en-US" smtClean="0"/>
              <a:pPr/>
              <a:t>30</a:t>
            </a:fld>
            <a:endParaRPr lang="en-US"/>
          </a:p>
        </p:txBody>
      </p:sp>
    </p:spTree>
    <p:extLst>
      <p:ext uri="{BB962C8B-B14F-4D97-AF65-F5344CB8AC3E}">
        <p14:creationId xmlns:p14="http://schemas.microsoft.com/office/powerpoint/2010/main" val="3702568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42A8B0-45BA-48DC-9432-7F47C09E1C1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4245A9-A21A-A7DC-B250-D847B03C8C0E}"/>
              </a:ext>
            </a:extLst>
          </p:cNvPr>
          <p:cNvSpPr>
            <a:spLocks noGrp="1"/>
          </p:cNvSpPr>
          <p:nvPr>
            <p:ph idx="1"/>
          </p:nvPr>
        </p:nvSpPr>
        <p:spPr>
          <a:xfrm>
            <a:off x="341194" y="1671482"/>
            <a:ext cx="11436823" cy="4591665"/>
          </a:xfrm>
        </p:spPr>
        <p:txBody>
          <a:bodyPr>
            <a:noAutofit/>
          </a:bodyPr>
          <a:lstStyle/>
          <a:p>
            <a:r>
              <a:rPr lang="en-US" sz="2500" dirty="0"/>
              <a:t>Our Phase-1 demo successfully establishes the core principles, and adds enhancements</a:t>
            </a:r>
            <a:r>
              <a:rPr lang="en-US" sz="2500" b="1" dirty="0"/>
              <a:t> </a:t>
            </a:r>
            <a:r>
              <a:rPr lang="en-US" sz="2500" dirty="0"/>
              <a:t>to the </a:t>
            </a:r>
            <a:r>
              <a:rPr lang="en-US" sz="2500" b="1" dirty="0" err="1"/>
              <a:t>Mogomola</a:t>
            </a:r>
            <a:r>
              <a:rPr lang="en-US" sz="2500" b="1" dirty="0"/>
              <a:t> et al. </a:t>
            </a:r>
            <a:r>
              <a:rPr lang="en-US" sz="2500" dirty="0"/>
              <a:t>paper.</a:t>
            </a:r>
          </a:p>
          <a:p>
            <a:r>
              <a:rPr lang="en-IN" sz="2400" b="1" dirty="0"/>
              <a:t>On-Chain State Management: </a:t>
            </a:r>
            <a:r>
              <a:rPr lang="en-US" sz="2400" dirty="0"/>
              <a:t>Paper focuses on recording data points, less on enforced process flow. The current implementation shows a full </a:t>
            </a:r>
            <a:r>
              <a:rPr lang="en-US" sz="2400" b="1" dirty="0"/>
              <a:t>on-chain state machine</a:t>
            </a:r>
            <a:r>
              <a:rPr lang="en-US" sz="2400" dirty="0"/>
              <a:t> (Harvested -&gt; Shipped -&gt; Received, etc.) using </a:t>
            </a:r>
            <a:r>
              <a:rPr lang="en-US" sz="2400" dirty="0" err="1"/>
              <a:t>enum</a:t>
            </a:r>
            <a:r>
              <a:rPr lang="en-US" sz="2400" dirty="0"/>
              <a:t>. </a:t>
            </a:r>
          </a:p>
          <a:p>
            <a:r>
              <a:rPr lang="en-IN" sz="2400" b="1" dirty="0"/>
              <a:t>Explicit Ownership Transfer: </a:t>
            </a:r>
            <a:r>
              <a:rPr lang="en-US" sz="2400" dirty="0"/>
              <a:t>Paper's implementation figures don't explicitly show on-chain ownership transfer between different stakeholders (Farmer -&gt; Packer/Wholesaler). </a:t>
            </a:r>
          </a:p>
          <a:p>
            <a:r>
              <a:rPr lang="en-US" sz="2400" dirty="0"/>
              <a:t>Introduced </a:t>
            </a:r>
            <a:r>
              <a:rPr lang="en-US" sz="2400" b="1" dirty="0" err="1"/>
              <a:t>transferOwnership</a:t>
            </a:r>
            <a:r>
              <a:rPr lang="en-US" sz="2400" dirty="0"/>
              <a:t> function tied to state changes (e.g., Farmer ships, ownership moves to Wholesaler address). This digitally mirrors physical custody changes securely on the blockchain.</a:t>
            </a:r>
          </a:p>
          <a:p>
            <a:endParaRPr lang="en-US" sz="2400" dirty="0"/>
          </a:p>
          <a:p>
            <a:endParaRPr lang="en-US" sz="2500" dirty="0"/>
          </a:p>
          <a:p>
            <a:endParaRPr lang="en-US" sz="2500" dirty="0"/>
          </a:p>
        </p:txBody>
      </p:sp>
      <p:sp>
        <p:nvSpPr>
          <p:cNvPr id="3" name="Title 2">
            <a:extLst>
              <a:ext uri="{FF2B5EF4-FFF2-40B4-BE49-F238E27FC236}">
                <a16:creationId xmlns:a16="http://schemas.microsoft.com/office/drawing/2014/main" id="{54697536-1169-4063-B9BB-E38FAC35E4EE}"/>
              </a:ext>
            </a:extLst>
          </p:cNvPr>
          <p:cNvSpPr>
            <a:spLocks noGrp="1"/>
          </p:cNvSpPr>
          <p:nvPr>
            <p:ph type="title"/>
          </p:nvPr>
        </p:nvSpPr>
        <p:spPr>
          <a:xfrm>
            <a:off x="341194" y="348660"/>
            <a:ext cx="11436823" cy="1322823"/>
          </a:xfrm>
        </p:spPr>
        <p:txBody>
          <a:bodyPr/>
          <a:lstStyle/>
          <a:p>
            <a:pPr algn="ctr"/>
            <a:r>
              <a:rPr lang="en-IN" sz="4500" b="1" dirty="0"/>
              <a:t>Phase-1 Implementation</a:t>
            </a:r>
          </a:p>
        </p:txBody>
      </p:sp>
      <p:sp>
        <p:nvSpPr>
          <p:cNvPr id="4" name="Slide Number Placeholder 3">
            <a:extLst>
              <a:ext uri="{FF2B5EF4-FFF2-40B4-BE49-F238E27FC236}">
                <a16:creationId xmlns:a16="http://schemas.microsoft.com/office/drawing/2014/main" id="{C3C6097C-CC58-BFFE-D4FF-42AFBF92941A}"/>
              </a:ext>
            </a:extLst>
          </p:cNvPr>
          <p:cNvSpPr>
            <a:spLocks noGrp="1"/>
          </p:cNvSpPr>
          <p:nvPr>
            <p:ph type="sldNum" sz="quarter" idx="12"/>
          </p:nvPr>
        </p:nvSpPr>
        <p:spPr/>
        <p:txBody>
          <a:bodyPr/>
          <a:lstStyle/>
          <a:p>
            <a:fld id="{71766878-3199-4EAB-94E7-2D6D11070E14}" type="slidenum">
              <a:rPr lang="en-US" smtClean="0"/>
              <a:pPr/>
              <a:t>31</a:t>
            </a:fld>
            <a:endParaRPr lang="en-US"/>
          </a:p>
        </p:txBody>
      </p:sp>
    </p:spTree>
    <p:extLst>
      <p:ext uri="{BB962C8B-B14F-4D97-AF65-F5344CB8AC3E}">
        <p14:creationId xmlns:p14="http://schemas.microsoft.com/office/powerpoint/2010/main" val="41660758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29A16-2F30-78A0-C70E-EFBEC466DA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D2F052-95FC-A153-93E0-1D59231E4CB1}"/>
              </a:ext>
            </a:extLst>
          </p:cNvPr>
          <p:cNvSpPr>
            <a:spLocks noGrp="1"/>
          </p:cNvSpPr>
          <p:nvPr>
            <p:ph idx="1"/>
          </p:nvPr>
        </p:nvSpPr>
        <p:spPr>
          <a:xfrm>
            <a:off x="242872" y="422786"/>
            <a:ext cx="11436823" cy="5653549"/>
          </a:xfrm>
        </p:spPr>
        <p:txBody>
          <a:bodyPr>
            <a:noAutofit/>
          </a:bodyPr>
          <a:lstStyle/>
          <a:p>
            <a:r>
              <a:rPr lang="en-IN" b="1" dirty="0"/>
              <a:t>Role-Based Views &amp; Simulated Authorization: </a:t>
            </a:r>
            <a:r>
              <a:rPr lang="en-US" dirty="0"/>
              <a:t>Paper shows separate forms but less focus on dynamic UI based on role/ownership.</a:t>
            </a:r>
          </a:p>
          <a:p>
            <a:r>
              <a:rPr lang="en-US" dirty="0"/>
              <a:t>Our implementation has a Dedicated UI view for each role (Farmer, Wholesaler, Retailer, Consumer). Actions (like "Ship", "Receive") are enabled/disabled based on checking the </a:t>
            </a:r>
            <a:r>
              <a:rPr lang="en-US" b="1" dirty="0"/>
              <a:t>product's current owner and state directly from the blockchain</a:t>
            </a:r>
            <a:r>
              <a:rPr lang="en-US" dirty="0"/>
              <a:t>, simulating robust access control.</a:t>
            </a:r>
          </a:p>
          <a:p>
            <a:r>
              <a:rPr lang="en-IN" b="1" dirty="0"/>
              <a:t>End-to-End Flow Simulation: </a:t>
            </a:r>
            <a:r>
              <a:rPr lang="en-IN" dirty="0"/>
              <a:t>Paper demonstrates discrete data entry/retrieval points.</a:t>
            </a:r>
          </a:p>
          <a:p>
            <a:r>
              <a:rPr lang="en-IN" dirty="0"/>
              <a:t>Our implementation </a:t>
            </a:r>
            <a:r>
              <a:rPr lang="en-US" dirty="0"/>
              <a:t>simulates the entire journey (Farmer -&gt; Wholesaler -&gt; Retailer -&gt; Consumer) providing a complete, verifiable provenance trail accessible especially to the end Consumer.</a:t>
            </a:r>
          </a:p>
          <a:p>
            <a:endParaRPr lang="en-IN" dirty="0"/>
          </a:p>
          <a:p>
            <a:endParaRPr lang="en-IN"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2C06F9BD-DF4D-9E0F-D93E-B34E0DE79A5E}"/>
              </a:ext>
            </a:extLst>
          </p:cNvPr>
          <p:cNvSpPr>
            <a:spLocks noGrp="1"/>
          </p:cNvSpPr>
          <p:nvPr>
            <p:ph type="sldNum" sz="quarter" idx="12"/>
          </p:nvPr>
        </p:nvSpPr>
        <p:spPr/>
        <p:txBody>
          <a:bodyPr/>
          <a:lstStyle/>
          <a:p>
            <a:fld id="{71766878-3199-4EAB-94E7-2D6D11070E14}" type="slidenum">
              <a:rPr lang="en-US" smtClean="0"/>
              <a:pPr/>
              <a:t>32</a:t>
            </a:fld>
            <a:endParaRPr lang="en-US"/>
          </a:p>
        </p:txBody>
      </p:sp>
    </p:spTree>
    <p:extLst>
      <p:ext uri="{BB962C8B-B14F-4D97-AF65-F5344CB8AC3E}">
        <p14:creationId xmlns:p14="http://schemas.microsoft.com/office/powerpoint/2010/main" val="12144427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D5F392A-3AAD-1055-557F-868F5EAC3CEE}"/>
              </a:ext>
            </a:extLst>
          </p:cNvPr>
          <p:cNvSpPr>
            <a:spLocks noGrp="1"/>
          </p:cNvSpPr>
          <p:nvPr>
            <p:ph type="sldNum" sz="quarter" idx="12"/>
          </p:nvPr>
        </p:nvSpPr>
        <p:spPr/>
        <p:txBody>
          <a:bodyPr/>
          <a:lstStyle/>
          <a:p>
            <a:fld id="{71766878-3199-4EAB-94E7-2D6D11070E14}" type="slidenum">
              <a:rPr lang="en-US" smtClean="0"/>
              <a:pPr/>
              <a:t>33</a:t>
            </a:fld>
            <a:endParaRPr lang="en-US"/>
          </a:p>
        </p:txBody>
      </p:sp>
      <p:pic>
        <p:nvPicPr>
          <p:cNvPr id="6" name="Picture 5" descr="A diagram of a shipping process&#10;&#10;AI-generated content may be incorrect.">
            <a:extLst>
              <a:ext uri="{FF2B5EF4-FFF2-40B4-BE49-F238E27FC236}">
                <a16:creationId xmlns:a16="http://schemas.microsoft.com/office/drawing/2014/main" id="{49EEC75A-1FFF-8932-EAC3-EF81B657E185}"/>
              </a:ext>
            </a:extLst>
          </p:cNvPr>
          <p:cNvPicPr>
            <a:picLocks noChangeAspect="1"/>
          </p:cNvPicPr>
          <p:nvPr/>
        </p:nvPicPr>
        <p:blipFill>
          <a:blip r:embed="rId2"/>
          <a:stretch>
            <a:fillRect/>
          </a:stretch>
        </p:blipFill>
        <p:spPr>
          <a:xfrm>
            <a:off x="4876800" y="226142"/>
            <a:ext cx="1956049" cy="5830529"/>
          </a:xfrm>
          <a:prstGeom prst="rect">
            <a:avLst/>
          </a:prstGeom>
        </p:spPr>
      </p:pic>
    </p:spTree>
    <p:extLst>
      <p:ext uri="{BB962C8B-B14F-4D97-AF65-F5344CB8AC3E}">
        <p14:creationId xmlns:p14="http://schemas.microsoft.com/office/powerpoint/2010/main" val="26821568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A8D9D-B47A-229C-B090-350F22C8F9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D55D7E1-3356-D5C9-BD66-1485FEBA2E8A}"/>
              </a:ext>
            </a:extLst>
          </p:cNvPr>
          <p:cNvSpPr>
            <a:spLocks noGrp="1"/>
          </p:cNvSpPr>
          <p:nvPr>
            <p:ph type="title"/>
          </p:nvPr>
        </p:nvSpPr>
        <p:spPr>
          <a:xfrm>
            <a:off x="377588" y="191105"/>
            <a:ext cx="11436823" cy="798537"/>
          </a:xfrm>
        </p:spPr>
        <p:txBody>
          <a:bodyPr/>
          <a:lstStyle/>
          <a:p>
            <a:pPr algn="ctr"/>
            <a:r>
              <a:rPr lang="en-US" sz="4000" b="1" dirty="0">
                <a:latin typeface="Georgia"/>
              </a:rPr>
              <a:t>Smart Contract Logic </a:t>
            </a:r>
            <a:r>
              <a:rPr lang="en-US" sz="4000" b="1" dirty="0"/>
              <a:t>(</a:t>
            </a:r>
            <a:r>
              <a:rPr lang="en-US" sz="4000" b="1" dirty="0" err="1"/>
              <a:t>SupplyChain.sol</a:t>
            </a:r>
            <a:r>
              <a:rPr lang="en-US" sz="4000" b="1" dirty="0"/>
              <a:t>) </a:t>
            </a:r>
          </a:p>
        </p:txBody>
      </p:sp>
      <p:sp>
        <p:nvSpPr>
          <p:cNvPr id="4" name="Slide Number Placeholder 3">
            <a:extLst>
              <a:ext uri="{FF2B5EF4-FFF2-40B4-BE49-F238E27FC236}">
                <a16:creationId xmlns:a16="http://schemas.microsoft.com/office/drawing/2014/main" id="{B613EDD5-1003-5BBD-2FBF-D33969C9B087}"/>
              </a:ext>
            </a:extLst>
          </p:cNvPr>
          <p:cNvSpPr>
            <a:spLocks noGrp="1"/>
          </p:cNvSpPr>
          <p:nvPr>
            <p:ph type="sldNum" sz="quarter" idx="12"/>
          </p:nvPr>
        </p:nvSpPr>
        <p:spPr/>
        <p:txBody>
          <a:bodyPr/>
          <a:lstStyle/>
          <a:p>
            <a:fld id="{71766878-3199-4EAB-94E7-2D6D11070E14}" type="slidenum">
              <a:rPr lang="en-US" smtClean="0"/>
              <a:pPr/>
              <a:t>34</a:t>
            </a:fld>
            <a:endParaRPr lang="en-US"/>
          </a:p>
        </p:txBody>
      </p:sp>
      <p:sp>
        <p:nvSpPr>
          <p:cNvPr id="11" name="Content Placeholder 1">
            <a:extLst>
              <a:ext uri="{FF2B5EF4-FFF2-40B4-BE49-F238E27FC236}">
                <a16:creationId xmlns:a16="http://schemas.microsoft.com/office/drawing/2014/main" id="{ED5E032A-3C51-A25E-7F95-A8CC309EECD2}"/>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68E1A949-5045-EB8B-044A-E60F167931A9}"/>
              </a:ext>
            </a:extLst>
          </p:cNvPr>
          <p:cNvSpPr>
            <a:spLocks noGrp="1"/>
          </p:cNvSpPr>
          <p:nvPr>
            <p:ph idx="1"/>
          </p:nvPr>
        </p:nvSpPr>
        <p:spPr>
          <a:xfrm>
            <a:off x="341194" y="1137256"/>
            <a:ext cx="10819544" cy="4908082"/>
          </a:xfrm>
        </p:spPr>
        <p:txBody>
          <a:bodyPr vert="horz" lIns="91440" tIns="45720" rIns="91440" bIns="45720" rtlCol="0" anchor="t">
            <a:noAutofit/>
          </a:bodyPr>
          <a:lstStyle/>
          <a:p>
            <a:pPr>
              <a:buFont typeface="Arial"/>
              <a:buChar char="•"/>
            </a:pPr>
            <a:r>
              <a:rPr lang="en-IN" sz="2400" b="1" dirty="0"/>
              <a:t>Core Functions:</a:t>
            </a:r>
            <a:r>
              <a:rPr lang="en-IN" sz="2400" dirty="0"/>
              <a:t> Manages the lifecycle and ownership of agricultural products on the blockchain.</a:t>
            </a:r>
          </a:p>
          <a:p>
            <a:pPr>
              <a:buFont typeface="Arial"/>
              <a:buChar char="•"/>
            </a:pPr>
            <a:r>
              <a:rPr lang="en-IN" sz="2400" b="1" dirty="0"/>
              <a:t>Product Data (struct Product):</a:t>
            </a:r>
            <a:r>
              <a:rPr lang="en-IN" sz="2400" dirty="0"/>
              <a:t> Stores key details for each item:</a:t>
            </a:r>
            <a:endParaRPr lang="en-IN" dirty="0"/>
          </a:p>
          <a:p>
            <a:pPr lvl="1">
              <a:buFont typeface="Arial"/>
              <a:buChar char="•"/>
            </a:pPr>
            <a:r>
              <a:rPr lang="en-IN" dirty="0"/>
              <a:t>id: Unique identifier.</a:t>
            </a:r>
          </a:p>
          <a:p>
            <a:pPr lvl="1">
              <a:buFont typeface="Arial"/>
              <a:buChar char="•"/>
            </a:pPr>
            <a:r>
              <a:rPr lang="en-IN" dirty="0"/>
              <a:t>name, origin: Basic product info.</a:t>
            </a:r>
          </a:p>
          <a:p>
            <a:pPr lvl="1">
              <a:buFont typeface="Arial"/>
              <a:buChar char="•"/>
            </a:pPr>
            <a:r>
              <a:rPr lang="en-IN" dirty="0"/>
              <a:t>owner: Current stakeholder's blockchain address.</a:t>
            </a:r>
          </a:p>
          <a:p>
            <a:pPr lvl="1">
              <a:buFont typeface="Arial"/>
              <a:buChar char="•"/>
            </a:pPr>
            <a:r>
              <a:rPr lang="en-IN" dirty="0"/>
              <a:t>quantity, unit, </a:t>
            </a:r>
            <a:r>
              <a:rPr lang="en-IN" dirty="0" err="1"/>
              <a:t>pricePerUnit</a:t>
            </a:r>
            <a:r>
              <a:rPr lang="en-IN" dirty="0"/>
              <a:t>: Commercial details.</a:t>
            </a:r>
          </a:p>
          <a:p>
            <a:pPr lvl="1">
              <a:buFont typeface="Arial"/>
              <a:buChar char="•"/>
            </a:pPr>
            <a:r>
              <a:rPr lang="en-IN" dirty="0" err="1"/>
              <a:t>currentState</a:t>
            </a:r>
            <a:r>
              <a:rPr lang="en-IN" dirty="0"/>
              <a:t>: Tracks progress using </a:t>
            </a:r>
            <a:r>
              <a:rPr lang="en-IN" dirty="0" err="1"/>
              <a:t>enum</a:t>
            </a:r>
            <a:r>
              <a:rPr lang="en-IN" dirty="0"/>
              <a:t> State.</a:t>
            </a:r>
          </a:p>
          <a:p>
            <a:pPr>
              <a:buFont typeface="Arial"/>
              <a:buChar char="•"/>
            </a:pPr>
            <a:r>
              <a:rPr lang="en-IN" sz="2400" b="1" dirty="0"/>
              <a:t>Storage:</a:t>
            </a:r>
            <a:r>
              <a:rPr lang="en-IN" sz="2400" dirty="0"/>
              <a:t> Uses a mapping(unit =&gt; Product) for efficient lookup by product ID. On-chain storage provides immutability.</a:t>
            </a:r>
            <a:endParaRPr lang="en-IN" dirty="0"/>
          </a:p>
          <a:p>
            <a:pPr>
              <a:buFont typeface="Arial"/>
              <a:buChar char="•"/>
            </a:pPr>
            <a:endParaRPr lang="en-IN" sz="2400" dirty="0"/>
          </a:p>
        </p:txBody>
      </p:sp>
    </p:spTree>
    <p:extLst>
      <p:ext uri="{BB962C8B-B14F-4D97-AF65-F5344CB8AC3E}">
        <p14:creationId xmlns:p14="http://schemas.microsoft.com/office/powerpoint/2010/main" val="33112319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EB5C0-3872-278C-BE2E-EF203CBD10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147B37E-DD48-119A-167F-729841A1C7BD}"/>
              </a:ext>
            </a:extLst>
          </p:cNvPr>
          <p:cNvSpPr>
            <a:spLocks noGrp="1"/>
          </p:cNvSpPr>
          <p:nvPr>
            <p:ph type="title"/>
          </p:nvPr>
        </p:nvSpPr>
        <p:spPr>
          <a:xfrm>
            <a:off x="341194" y="180313"/>
            <a:ext cx="11436823" cy="589789"/>
          </a:xfrm>
        </p:spPr>
        <p:txBody>
          <a:bodyPr/>
          <a:lstStyle/>
          <a:p>
            <a:pPr algn="ctr"/>
            <a:r>
              <a:rPr lang="en-US" b="1" dirty="0">
                <a:latin typeface="Georgia"/>
              </a:rPr>
              <a:t>Smart Contract Logic (</a:t>
            </a:r>
            <a:r>
              <a:rPr lang="en-US" b="1" dirty="0">
                <a:latin typeface="Consolas"/>
              </a:rPr>
              <a:t>SupplyChain.sol</a:t>
            </a:r>
            <a:r>
              <a:rPr lang="en-US" b="1" dirty="0">
                <a:latin typeface="Georgia"/>
              </a:rPr>
              <a:t>) </a:t>
            </a:r>
          </a:p>
        </p:txBody>
      </p:sp>
      <p:sp>
        <p:nvSpPr>
          <p:cNvPr id="4" name="Slide Number Placeholder 3">
            <a:extLst>
              <a:ext uri="{FF2B5EF4-FFF2-40B4-BE49-F238E27FC236}">
                <a16:creationId xmlns:a16="http://schemas.microsoft.com/office/drawing/2014/main" id="{972F818F-EAD0-2C60-C083-988C64996234}"/>
              </a:ext>
            </a:extLst>
          </p:cNvPr>
          <p:cNvSpPr>
            <a:spLocks noGrp="1"/>
          </p:cNvSpPr>
          <p:nvPr>
            <p:ph type="sldNum" sz="quarter" idx="12"/>
          </p:nvPr>
        </p:nvSpPr>
        <p:spPr/>
        <p:txBody>
          <a:bodyPr/>
          <a:lstStyle/>
          <a:p>
            <a:fld id="{71766878-3199-4EAB-94E7-2D6D11070E14}" type="slidenum">
              <a:rPr lang="en-US" smtClean="0"/>
              <a:pPr/>
              <a:t>35</a:t>
            </a:fld>
            <a:endParaRPr lang="en-US"/>
          </a:p>
        </p:txBody>
      </p:sp>
      <p:sp>
        <p:nvSpPr>
          <p:cNvPr id="11" name="Content Placeholder 1">
            <a:extLst>
              <a:ext uri="{FF2B5EF4-FFF2-40B4-BE49-F238E27FC236}">
                <a16:creationId xmlns:a16="http://schemas.microsoft.com/office/drawing/2014/main" id="{61F72E53-1DD3-8FDE-0A3F-867FF11F1CAD}"/>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7E49910C-28BE-6B6A-C13F-1A6021B5B998}"/>
              </a:ext>
            </a:extLst>
          </p:cNvPr>
          <p:cNvSpPr>
            <a:spLocks noGrp="1"/>
          </p:cNvSpPr>
          <p:nvPr>
            <p:ph idx="1"/>
          </p:nvPr>
        </p:nvSpPr>
        <p:spPr>
          <a:xfrm>
            <a:off x="495299" y="824331"/>
            <a:ext cx="10819544" cy="5209337"/>
          </a:xfrm>
        </p:spPr>
        <p:txBody>
          <a:bodyPr vert="horz" lIns="91440" tIns="45720" rIns="91440" bIns="45720" rtlCol="0" anchor="t">
            <a:noAutofit/>
          </a:bodyPr>
          <a:lstStyle/>
          <a:p>
            <a:pPr>
              <a:buFont typeface="Arial"/>
              <a:buChar char="•"/>
            </a:pPr>
            <a:r>
              <a:rPr lang="en-IN" sz="2400" b="1" dirty="0"/>
              <a:t>State Machine (</a:t>
            </a:r>
            <a:r>
              <a:rPr lang="en-IN" sz="2400" b="1" dirty="0" err="1"/>
              <a:t>enum</a:t>
            </a:r>
            <a:r>
              <a:rPr lang="en-IN" sz="2400" b="1" dirty="0"/>
              <a:t> State):</a:t>
            </a:r>
            <a:r>
              <a:rPr lang="en-IN" sz="2400" dirty="0"/>
              <a:t> Defines distinct stages (Harvested, </a:t>
            </a:r>
            <a:r>
              <a:rPr lang="en-IN" sz="2400" dirty="0" err="1"/>
              <a:t>ShippedToWholesaler</a:t>
            </a:r>
            <a:r>
              <a:rPr lang="en-IN" sz="2400" dirty="0"/>
              <a:t>, </a:t>
            </a:r>
            <a:r>
              <a:rPr lang="en-IN" sz="2400" dirty="0" err="1"/>
              <a:t>ReceivedByWholesaler</a:t>
            </a:r>
            <a:r>
              <a:rPr lang="en-IN" sz="2400" dirty="0"/>
              <a:t>, Processed, </a:t>
            </a:r>
            <a:r>
              <a:rPr lang="en-IN" sz="2400" dirty="0" err="1"/>
              <a:t>ShippedToRetailer</a:t>
            </a:r>
            <a:r>
              <a:rPr lang="en-IN" sz="2400" dirty="0"/>
              <a:t>, </a:t>
            </a:r>
            <a:r>
              <a:rPr lang="en-IN" sz="2400" dirty="0" err="1"/>
              <a:t>ReceivedByRetailer</a:t>
            </a:r>
            <a:r>
              <a:rPr lang="en-IN" sz="2400" dirty="0"/>
              <a:t>, </a:t>
            </a:r>
            <a:r>
              <a:rPr lang="en-IN" sz="2400" dirty="0" err="1"/>
              <a:t>ForSale</a:t>
            </a:r>
            <a:r>
              <a:rPr lang="en-IN" sz="2400" dirty="0"/>
              <a:t>, </a:t>
            </a:r>
            <a:r>
              <a:rPr lang="en-IN" sz="2400" dirty="0" err="1"/>
              <a:t>SoldToConsumer</a:t>
            </a:r>
            <a:r>
              <a:rPr lang="en-IN" sz="2400" dirty="0"/>
              <a:t>).</a:t>
            </a:r>
            <a:endParaRPr lang="en-US" dirty="0"/>
          </a:p>
          <a:p>
            <a:pPr>
              <a:buFont typeface="Arial"/>
              <a:buChar char="•"/>
            </a:pPr>
            <a:r>
              <a:rPr lang="en-IN" sz="2400" b="1" dirty="0"/>
              <a:t>State Transitions (</a:t>
            </a:r>
            <a:r>
              <a:rPr lang="en-IN" sz="2400" b="1" dirty="0" err="1"/>
              <a:t>updateProductState</a:t>
            </a:r>
            <a:r>
              <a:rPr lang="en-IN" sz="2400" b="1" dirty="0"/>
              <a:t>):</a:t>
            </a:r>
            <a:r>
              <a:rPr lang="en-IN" sz="2400" dirty="0"/>
              <a:t> Allows the current owner (</a:t>
            </a:r>
            <a:r>
              <a:rPr lang="en-IN" sz="2400" dirty="0" err="1"/>
              <a:t>onlyOwner</a:t>
            </a:r>
            <a:r>
              <a:rPr lang="en-IN" sz="2400" dirty="0"/>
              <a:t> modifier) to move the product to the next valid state according to predefined logic.</a:t>
            </a:r>
            <a:endParaRPr lang="en-IN" dirty="0"/>
          </a:p>
          <a:p>
            <a:pPr>
              <a:buFont typeface="Arial"/>
              <a:buChar char="•"/>
            </a:pPr>
            <a:r>
              <a:rPr lang="en-IN" sz="2400" b="1" dirty="0"/>
              <a:t>Ownership Management (</a:t>
            </a:r>
            <a:r>
              <a:rPr lang="en-IN" sz="2400" b="1" dirty="0" err="1"/>
              <a:t>transferOwnership</a:t>
            </a:r>
            <a:r>
              <a:rPr lang="en-IN" sz="2400" b="1" dirty="0"/>
              <a:t>):</a:t>
            </a:r>
            <a:r>
              <a:rPr lang="en-IN" sz="2400" dirty="0"/>
              <a:t> Enables the </a:t>
            </a:r>
            <a:r>
              <a:rPr lang="en-IN" dirty="0"/>
              <a:t>current owner (</a:t>
            </a:r>
            <a:r>
              <a:rPr lang="en-IN" dirty="0" err="1"/>
              <a:t>onlyOwner</a:t>
            </a:r>
            <a:r>
              <a:rPr lang="en-IN" dirty="0"/>
              <a:t> modifier) to transfer the product to a new owner's address.</a:t>
            </a:r>
          </a:p>
          <a:p>
            <a:pPr>
              <a:buFont typeface="Arial"/>
              <a:buChar char="•"/>
            </a:pPr>
            <a:r>
              <a:rPr lang="en-IN" b="1" dirty="0"/>
              <a:t>Access Control (</a:t>
            </a:r>
            <a:r>
              <a:rPr lang="en-IN" b="1" dirty="0" err="1"/>
              <a:t>onlyOwner</a:t>
            </a:r>
            <a:r>
              <a:rPr lang="en-IN" b="1" dirty="0"/>
              <a:t> modifier):</a:t>
            </a:r>
            <a:r>
              <a:rPr lang="en-IN" dirty="0"/>
              <a:t> Restricts critical functions (state/ownership changes) to the current owner address.</a:t>
            </a:r>
          </a:p>
          <a:p>
            <a:pPr>
              <a:buFont typeface="Arial"/>
              <a:buChar char="•"/>
            </a:pPr>
            <a:r>
              <a:rPr lang="en-IN" sz="2400" b="1" dirty="0"/>
              <a:t>Events:</a:t>
            </a:r>
            <a:r>
              <a:rPr lang="en-IN" sz="2400" dirty="0"/>
              <a:t> Emits logs (</a:t>
            </a:r>
            <a:r>
              <a:rPr lang="en-IN" sz="2400" dirty="0" err="1"/>
              <a:t>ProductAdded</a:t>
            </a:r>
            <a:r>
              <a:rPr lang="en-IN" dirty="0"/>
              <a:t>, </a:t>
            </a:r>
            <a:r>
              <a:rPr lang="en-IN" sz="2400" dirty="0" err="1"/>
              <a:t>ProductStateUpdated</a:t>
            </a:r>
            <a:r>
              <a:rPr lang="en-IN" dirty="0"/>
              <a:t>, </a:t>
            </a:r>
            <a:r>
              <a:rPr lang="en-IN" sz="2400" dirty="0" err="1"/>
              <a:t>OwnershipTransferred</a:t>
            </a:r>
            <a:r>
              <a:rPr lang="en-IN" sz="2400" dirty="0"/>
              <a:t>) to notify the frontend </a:t>
            </a:r>
            <a:r>
              <a:rPr lang="en-IN" sz="2400" dirty="0" err="1"/>
              <a:t>DApp</a:t>
            </a:r>
            <a:r>
              <a:rPr lang="en-IN" sz="2400" dirty="0"/>
              <a:t> of changes.</a:t>
            </a:r>
            <a:endParaRPr lang="en-IN" dirty="0"/>
          </a:p>
          <a:p>
            <a:pPr>
              <a:buFont typeface="Arial"/>
              <a:buChar char="•"/>
            </a:pPr>
            <a:endParaRPr lang="en-IN" sz="2400" dirty="0"/>
          </a:p>
        </p:txBody>
      </p:sp>
    </p:spTree>
    <p:extLst>
      <p:ext uri="{BB962C8B-B14F-4D97-AF65-F5344CB8AC3E}">
        <p14:creationId xmlns:p14="http://schemas.microsoft.com/office/powerpoint/2010/main" val="8418321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2783-4F51-EB8A-C3A2-075595DBC7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D7BF053-9236-B6E3-CB93-88B965214E49}"/>
              </a:ext>
            </a:extLst>
          </p:cNvPr>
          <p:cNvSpPr>
            <a:spLocks noGrp="1"/>
          </p:cNvSpPr>
          <p:nvPr>
            <p:ph type="title"/>
          </p:nvPr>
        </p:nvSpPr>
        <p:spPr>
          <a:xfrm>
            <a:off x="341193" y="302277"/>
            <a:ext cx="11436823" cy="500897"/>
          </a:xfrm>
        </p:spPr>
        <p:txBody>
          <a:bodyPr/>
          <a:lstStyle/>
          <a:p>
            <a:pPr algn="ctr"/>
            <a:r>
              <a:rPr lang="en-US" sz="4000" b="1" dirty="0">
                <a:latin typeface="Georgia"/>
              </a:rPr>
              <a:t>Frontend Logic: Wallet, Roles &amp; Data </a:t>
            </a:r>
          </a:p>
        </p:txBody>
      </p:sp>
      <p:sp>
        <p:nvSpPr>
          <p:cNvPr id="4" name="Slide Number Placeholder 3">
            <a:extLst>
              <a:ext uri="{FF2B5EF4-FFF2-40B4-BE49-F238E27FC236}">
                <a16:creationId xmlns:a16="http://schemas.microsoft.com/office/drawing/2014/main" id="{00EB7F86-01E1-AD1E-37E9-52486A53D16D}"/>
              </a:ext>
            </a:extLst>
          </p:cNvPr>
          <p:cNvSpPr>
            <a:spLocks noGrp="1"/>
          </p:cNvSpPr>
          <p:nvPr>
            <p:ph type="sldNum" sz="quarter" idx="12"/>
          </p:nvPr>
        </p:nvSpPr>
        <p:spPr/>
        <p:txBody>
          <a:bodyPr/>
          <a:lstStyle/>
          <a:p>
            <a:fld id="{71766878-3199-4EAB-94E7-2D6D11070E14}" type="slidenum">
              <a:rPr lang="en-US" smtClean="0"/>
              <a:pPr/>
              <a:t>36</a:t>
            </a:fld>
            <a:endParaRPr lang="en-US"/>
          </a:p>
        </p:txBody>
      </p:sp>
      <p:sp>
        <p:nvSpPr>
          <p:cNvPr id="11" name="Content Placeholder 1">
            <a:extLst>
              <a:ext uri="{FF2B5EF4-FFF2-40B4-BE49-F238E27FC236}">
                <a16:creationId xmlns:a16="http://schemas.microsoft.com/office/drawing/2014/main" id="{CA24ACAB-CF98-B032-95D4-5D691D059AD2}"/>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D7E075F1-59C9-6C2E-418F-DD0BEAB4D390}"/>
              </a:ext>
            </a:extLst>
          </p:cNvPr>
          <p:cNvSpPr>
            <a:spLocks noGrp="1"/>
          </p:cNvSpPr>
          <p:nvPr>
            <p:ph idx="1"/>
          </p:nvPr>
        </p:nvSpPr>
        <p:spPr>
          <a:xfrm>
            <a:off x="341193" y="1137256"/>
            <a:ext cx="11652428" cy="4908082"/>
          </a:xfrm>
        </p:spPr>
        <p:txBody>
          <a:bodyPr vert="horz" lIns="91440" tIns="45720" rIns="91440" bIns="45720" rtlCol="0" anchor="t">
            <a:noAutofit/>
          </a:bodyPr>
          <a:lstStyle/>
          <a:p>
            <a:pPr>
              <a:buFont typeface="Arial"/>
              <a:buChar char="•"/>
            </a:pPr>
            <a:r>
              <a:rPr lang="en-IN" b="1" dirty="0"/>
              <a:t>Wallet &amp; Role Management:</a:t>
            </a:r>
            <a:r>
              <a:rPr lang="en-IN" dirty="0"/>
              <a:t> App.js connects wallet (MetaMask via ethers.js), monitors account changes, and manages </a:t>
            </a:r>
            <a:r>
              <a:rPr lang="en-IN" dirty="0" err="1"/>
              <a:t>loggedInRole</a:t>
            </a:r>
            <a:r>
              <a:rPr lang="en-IN" dirty="0"/>
              <a:t> state to render the correct UI View (Home, </a:t>
            </a:r>
            <a:r>
              <a:rPr lang="en-IN" dirty="0" err="1"/>
              <a:t>FarmerView</a:t>
            </a:r>
            <a:r>
              <a:rPr lang="en-IN" dirty="0"/>
              <a:t>, etc.).</a:t>
            </a:r>
            <a:endParaRPr lang="en-US" dirty="0"/>
          </a:p>
          <a:p>
            <a:pPr>
              <a:buFont typeface="Arial"/>
              <a:buChar char="•"/>
            </a:pPr>
            <a:r>
              <a:rPr lang="en-IN" b="1" dirty="0"/>
              <a:t>Data Fetching &amp; Display:</a:t>
            </a:r>
            <a:r>
              <a:rPr lang="en-IN" dirty="0"/>
              <a:t> </a:t>
            </a:r>
            <a:r>
              <a:rPr lang="en-IN" dirty="0" err="1"/>
              <a:t>fetchProducts</a:t>
            </a:r>
            <a:r>
              <a:rPr lang="en-IN" dirty="0"/>
              <a:t> calls </a:t>
            </a:r>
            <a:r>
              <a:rPr lang="en-IN" dirty="0" err="1"/>
              <a:t>getAllProducts</a:t>
            </a:r>
            <a:r>
              <a:rPr lang="en-IN" dirty="0"/>
              <a:t>, maps data to JS state. Dashboard.js displays product info, formats price/state, links hash to </a:t>
            </a:r>
            <a:r>
              <a:rPr lang="en-IN" dirty="0" err="1"/>
              <a:t>Etherscan</a:t>
            </a:r>
            <a:r>
              <a:rPr lang="en-IN" dirty="0"/>
              <a:t>.</a:t>
            </a:r>
          </a:p>
          <a:p>
            <a:pPr>
              <a:buFont typeface="Arial"/>
              <a:buChar char="•"/>
            </a:pPr>
            <a:endParaRPr lang="en-IN" dirty="0"/>
          </a:p>
        </p:txBody>
      </p:sp>
    </p:spTree>
    <p:extLst>
      <p:ext uri="{BB962C8B-B14F-4D97-AF65-F5344CB8AC3E}">
        <p14:creationId xmlns:p14="http://schemas.microsoft.com/office/powerpoint/2010/main" val="2638368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37B8-A384-8BA8-73E9-EA9467FF0D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E899036-D909-B60C-7FBA-5B4E6A3E493A}"/>
              </a:ext>
            </a:extLst>
          </p:cNvPr>
          <p:cNvSpPr>
            <a:spLocks noGrp="1"/>
          </p:cNvSpPr>
          <p:nvPr>
            <p:ph type="title"/>
          </p:nvPr>
        </p:nvSpPr>
        <p:spPr>
          <a:xfrm>
            <a:off x="377588" y="241488"/>
            <a:ext cx="11436823" cy="593706"/>
          </a:xfrm>
        </p:spPr>
        <p:txBody>
          <a:bodyPr/>
          <a:lstStyle/>
          <a:p>
            <a:pPr algn="ctr"/>
            <a:r>
              <a:rPr lang="en-US" sz="4000" b="1" dirty="0">
                <a:latin typeface="Georgia"/>
              </a:rPr>
              <a:t>Frontend Logic: Actions &amp; Hash Handling </a:t>
            </a:r>
          </a:p>
        </p:txBody>
      </p:sp>
      <p:sp>
        <p:nvSpPr>
          <p:cNvPr id="4" name="Slide Number Placeholder 3">
            <a:extLst>
              <a:ext uri="{FF2B5EF4-FFF2-40B4-BE49-F238E27FC236}">
                <a16:creationId xmlns:a16="http://schemas.microsoft.com/office/drawing/2014/main" id="{0D9640A8-3155-9D26-6A0C-D6E7095A6B0C}"/>
              </a:ext>
            </a:extLst>
          </p:cNvPr>
          <p:cNvSpPr>
            <a:spLocks noGrp="1"/>
          </p:cNvSpPr>
          <p:nvPr>
            <p:ph type="sldNum" sz="quarter" idx="12"/>
          </p:nvPr>
        </p:nvSpPr>
        <p:spPr/>
        <p:txBody>
          <a:bodyPr/>
          <a:lstStyle/>
          <a:p>
            <a:fld id="{71766878-3199-4EAB-94E7-2D6D11070E14}" type="slidenum">
              <a:rPr lang="en-US" smtClean="0"/>
              <a:pPr/>
              <a:t>37</a:t>
            </a:fld>
            <a:endParaRPr lang="en-US"/>
          </a:p>
        </p:txBody>
      </p:sp>
      <p:sp>
        <p:nvSpPr>
          <p:cNvPr id="11" name="Content Placeholder 1">
            <a:extLst>
              <a:ext uri="{FF2B5EF4-FFF2-40B4-BE49-F238E27FC236}">
                <a16:creationId xmlns:a16="http://schemas.microsoft.com/office/drawing/2014/main" id="{45990EEA-2170-B27C-E5A2-89EF4FA2A404}"/>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6DBBA422-79D4-6012-B1CA-29FC2EEAED08}"/>
              </a:ext>
            </a:extLst>
          </p:cNvPr>
          <p:cNvSpPr>
            <a:spLocks noGrp="1"/>
          </p:cNvSpPr>
          <p:nvPr>
            <p:ph idx="1"/>
          </p:nvPr>
        </p:nvSpPr>
        <p:spPr>
          <a:xfrm>
            <a:off x="341194" y="1137256"/>
            <a:ext cx="11652428" cy="4908082"/>
          </a:xfrm>
        </p:spPr>
        <p:txBody>
          <a:bodyPr vert="horz" lIns="91440" tIns="45720" rIns="91440" bIns="45720" rtlCol="0" anchor="t">
            <a:noAutofit/>
          </a:bodyPr>
          <a:lstStyle/>
          <a:p>
            <a:pPr>
              <a:buFont typeface="Arial"/>
              <a:buChar char="•"/>
            </a:pPr>
            <a:r>
              <a:rPr lang="en-IN" sz="2400" b="1" dirty="0"/>
              <a:t>Transactions</a:t>
            </a:r>
            <a:r>
              <a:rPr lang="en-IN" b="1" dirty="0"/>
              <a:t>:</a:t>
            </a:r>
            <a:r>
              <a:rPr lang="en-IN" dirty="0"/>
              <a:t> Role-specific views trigger actions </a:t>
            </a:r>
            <a:r>
              <a:rPr lang="en-IN" sz="2400" dirty="0"/>
              <a:t>(e.g., </a:t>
            </a:r>
            <a:r>
              <a:rPr lang="en-IN" sz="2400" dirty="0" err="1"/>
              <a:t>shipToWholesaler</a:t>
            </a:r>
            <a:r>
              <a:rPr lang="en-IN" sz="2400" dirty="0"/>
              <a:t>) which call contract functions via ethers.js (signer), wait for confirmation (</a:t>
            </a:r>
            <a:r>
              <a:rPr lang="en-IN" sz="2400" dirty="0" err="1"/>
              <a:t>tx.wait</a:t>
            </a:r>
            <a:r>
              <a:rPr lang="en-IN" sz="2400" dirty="0"/>
              <a:t>()), and refresh UI data.</a:t>
            </a:r>
            <a:endParaRPr lang="en-US" sz="2400" dirty="0"/>
          </a:p>
          <a:p>
            <a:pPr>
              <a:buFont typeface="Arial"/>
              <a:buChar char="•"/>
            </a:pPr>
            <a:r>
              <a:rPr lang="en-IN" b="1" dirty="0"/>
              <a:t>Off-Chain Hash Handling:</a:t>
            </a:r>
          </a:p>
          <a:p>
            <a:pPr lvl="1">
              <a:buFont typeface="Arial"/>
              <a:buChar char="•"/>
            </a:pPr>
            <a:r>
              <a:rPr lang="en-IN" dirty="0"/>
              <a:t>After </a:t>
            </a:r>
            <a:r>
              <a:rPr lang="en-IN" dirty="0" err="1"/>
              <a:t>addProduct</a:t>
            </a:r>
            <a:r>
              <a:rPr lang="en-IN" dirty="0"/>
              <a:t>, the initial transaction hash is retrieved from the receipt.</a:t>
            </a:r>
          </a:p>
          <a:p>
            <a:pPr lvl="1">
              <a:buFont typeface="Arial"/>
              <a:buChar char="•"/>
            </a:pPr>
            <a:r>
              <a:rPr lang="en-IN" dirty="0"/>
              <a:t>The hash is stored in </a:t>
            </a:r>
            <a:r>
              <a:rPr lang="en-IN" dirty="0" err="1"/>
              <a:t>localStorage</a:t>
            </a:r>
            <a:r>
              <a:rPr lang="en-IN" dirty="0"/>
              <a:t> keyed by the product ID (extracted from event logs).</a:t>
            </a:r>
          </a:p>
          <a:p>
            <a:pPr lvl="1">
              <a:buFont typeface="Arial"/>
              <a:buChar char="•"/>
            </a:pPr>
            <a:r>
              <a:rPr lang="en-IN" dirty="0" err="1"/>
              <a:t>fetchProducts</a:t>
            </a:r>
            <a:r>
              <a:rPr lang="en-IN" dirty="0"/>
              <a:t> reads this hash from </a:t>
            </a:r>
            <a:r>
              <a:rPr lang="en-IN" dirty="0" err="1"/>
              <a:t>localStorage</a:t>
            </a:r>
            <a:r>
              <a:rPr lang="en-IN" dirty="0"/>
              <a:t> for display.</a:t>
            </a:r>
          </a:p>
          <a:p>
            <a:pPr lvl="1">
              <a:buFont typeface="Arial"/>
              <a:buChar char="•"/>
            </a:pPr>
            <a:r>
              <a:rPr lang="en-IN" b="1" dirty="0"/>
              <a:t>Limitation:</a:t>
            </a:r>
            <a:r>
              <a:rPr lang="en-IN" dirty="0"/>
              <a:t> This is a centralized, browser-specific workaround.</a:t>
            </a:r>
          </a:p>
          <a:p>
            <a:pPr>
              <a:buFont typeface="Arial"/>
              <a:buChar char="•"/>
            </a:pPr>
            <a:endParaRPr lang="en-IN" sz="2400" dirty="0"/>
          </a:p>
        </p:txBody>
      </p:sp>
    </p:spTree>
    <p:extLst>
      <p:ext uri="{BB962C8B-B14F-4D97-AF65-F5344CB8AC3E}">
        <p14:creationId xmlns:p14="http://schemas.microsoft.com/office/powerpoint/2010/main" val="1886219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ED0DF-E6FC-065B-EC57-9EF01A86D6C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19B372A-7E14-6D06-5A54-519F4835B1C9}"/>
              </a:ext>
            </a:extLst>
          </p:cNvPr>
          <p:cNvSpPr>
            <a:spLocks noGrp="1"/>
          </p:cNvSpPr>
          <p:nvPr>
            <p:ph type="title"/>
          </p:nvPr>
        </p:nvSpPr>
        <p:spPr>
          <a:xfrm>
            <a:off x="379776" y="491614"/>
            <a:ext cx="11436823" cy="471400"/>
          </a:xfrm>
        </p:spPr>
        <p:txBody>
          <a:bodyPr/>
          <a:lstStyle/>
          <a:p>
            <a:pPr algn="ctr"/>
            <a:r>
              <a:rPr lang="en-US" sz="4000" b="1" dirty="0">
                <a:latin typeface="Georgia"/>
              </a:rPr>
              <a:t>Possible Outcomes &amp; Achievements </a:t>
            </a:r>
          </a:p>
        </p:txBody>
      </p:sp>
      <p:sp>
        <p:nvSpPr>
          <p:cNvPr id="4" name="Slide Number Placeholder 3">
            <a:extLst>
              <a:ext uri="{FF2B5EF4-FFF2-40B4-BE49-F238E27FC236}">
                <a16:creationId xmlns:a16="http://schemas.microsoft.com/office/drawing/2014/main" id="{72B81C50-4137-FB87-D790-B3ABE199D373}"/>
              </a:ext>
            </a:extLst>
          </p:cNvPr>
          <p:cNvSpPr>
            <a:spLocks noGrp="1"/>
          </p:cNvSpPr>
          <p:nvPr>
            <p:ph type="sldNum" sz="quarter" idx="12"/>
          </p:nvPr>
        </p:nvSpPr>
        <p:spPr/>
        <p:txBody>
          <a:bodyPr/>
          <a:lstStyle/>
          <a:p>
            <a:fld id="{71766878-3199-4EAB-94E7-2D6D11070E14}" type="slidenum">
              <a:rPr lang="en-US" smtClean="0"/>
              <a:pPr/>
              <a:t>38</a:t>
            </a:fld>
            <a:endParaRPr lang="en-US"/>
          </a:p>
        </p:txBody>
      </p:sp>
      <p:sp>
        <p:nvSpPr>
          <p:cNvPr id="11" name="Content Placeholder 1">
            <a:extLst>
              <a:ext uri="{FF2B5EF4-FFF2-40B4-BE49-F238E27FC236}">
                <a16:creationId xmlns:a16="http://schemas.microsoft.com/office/drawing/2014/main" id="{94A56606-A0FE-6C3C-5EC2-38280AC6EB7D}"/>
              </a:ext>
            </a:extLst>
          </p:cNvPr>
          <p:cNvSpPr txBox="1">
            <a:spLocks/>
          </p:cNvSpPr>
          <p:nvPr/>
        </p:nvSpPr>
        <p:spPr>
          <a:xfrm>
            <a:off x="341194" y="1137256"/>
            <a:ext cx="11436823" cy="150593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sz="2000"/>
          </a:p>
        </p:txBody>
      </p:sp>
      <p:sp>
        <p:nvSpPr>
          <p:cNvPr id="5" name="Content Placeholder 4">
            <a:extLst>
              <a:ext uri="{FF2B5EF4-FFF2-40B4-BE49-F238E27FC236}">
                <a16:creationId xmlns:a16="http://schemas.microsoft.com/office/drawing/2014/main" id="{C7B49B13-95B9-B52A-FA57-2C2B9A591022}"/>
              </a:ext>
            </a:extLst>
          </p:cNvPr>
          <p:cNvSpPr>
            <a:spLocks noGrp="1"/>
          </p:cNvSpPr>
          <p:nvPr>
            <p:ph idx="1"/>
          </p:nvPr>
        </p:nvSpPr>
        <p:spPr>
          <a:xfrm>
            <a:off x="341194" y="1245292"/>
            <a:ext cx="11652428" cy="4908082"/>
          </a:xfrm>
        </p:spPr>
        <p:txBody>
          <a:bodyPr vert="horz" lIns="91440" tIns="45720" rIns="91440" bIns="45720" rtlCol="0" anchor="t">
            <a:noAutofit/>
          </a:bodyPr>
          <a:lstStyle/>
          <a:p>
            <a:pPr>
              <a:buFont typeface="Arial"/>
              <a:buChar char="•"/>
            </a:pPr>
            <a:r>
              <a:rPr lang="en-IN" b="1" dirty="0">
                <a:latin typeface="Georgia"/>
              </a:rPr>
              <a:t>Functional Prototype:</a:t>
            </a:r>
            <a:r>
              <a:rPr lang="en-IN" dirty="0">
                <a:latin typeface="Georgia"/>
              </a:rPr>
              <a:t> Demonstrates core traceability (Add, Ship, Receive) on </a:t>
            </a:r>
            <a:r>
              <a:rPr lang="en-IN" dirty="0" err="1">
                <a:latin typeface="Georgia"/>
              </a:rPr>
              <a:t>Sepolia</a:t>
            </a:r>
            <a:r>
              <a:rPr lang="en-IN" dirty="0">
                <a:latin typeface="Georgia"/>
              </a:rPr>
              <a:t>.</a:t>
            </a:r>
            <a:endParaRPr lang="en-US" dirty="0"/>
          </a:p>
          <a:p>
            <a:pPr>
              <a:buFont typeface="Arial"/>
              <a:buChar char="•"/>
            </a:pPr>
            <a:r>
              <a:rPr lang="en-IN" b="1" dirty="0">
                <a:latin typeface="Georgia"/>
              </a:rPr>
              <a:t>Enhanced Transparency:</a:t>
            </a:r>
            <a:r>
              <a:rPr lang="en-IN" dirty="0">
                <a:latin typeface="Georgia"/>
              </a:rPr>
              <a:t> Verifiable history/status accessible via </a:t>
            </a:r>
            <a:r>
              <a:rPr lang="en-IN" dirty="0" err="1">
                <a:latin typeface="Georgia"/>
              </a:rPr>
              <a:t>DApp</a:t>
            </a:r>
            <a:r>
              <a:rPr lang="en-IN" dirty="0">
                <a:latin typeface="Georgia"/>
              </a:rPr>
              <a:t>.</a:t>
            </a:r>
            <a:endParaRPr lang="en-IN" dirty="0"/>
          </a:p>
          <a:p>
            <a:pPr>
              <a:buFont typeface="Arial"/>
              <a:buChar char="•"/>
            </a:pPr>
            <a:r>
              <a:rPr lang="en-IN" b="1" dirty="0">
                <a:latin typeface="Georgia"/>
              </a:rPr>
              <a:t>Improved Trust:</a:t>
            </a:r>
            <a:r>
              <a:rPr lang="en-IN" dirty="0">
                <a:latin typeface="Georgia"/>
              </a:rPr>
              <a:t> Immutable records allow independent verification.</a:t>
            </a:r>
            <a:endParaRPr lang="en-IN" dirty="0"/>
          </a:p>
          <a:p>
            <a:pPr>
              <a:buFont typeface="Arial"/>
              <a:buChar char="•"/>
            </a:pPr>
            <a:r>
              <a:rPr lang="en-IN" b="1" dirty="0">
                <a:latin typeface="Georgia"/>
              </a:rPr>
              <a:t>Technical Feasibility:</a:t>
            </a:r>
            <a:r>
              <a:rPr lang="en-IN" dirty="0">
                <a:latin typeface="Georgia"/>
              </a:rPr>
              <a:t> Validates tech stack (Solidity, React, </a:t>
            </a:r>
            <a:r>
              <a:rPr lang="en-IN" dirty="0">
                <a:latin typeface="Consolas"/>
              </a:rPr>
              <a:t>ethers.js</a:t>
            </a:r>
            <a:r>
              <a:rPr lang="en-IN" dirty="0">
                <a:latin typeface="Georgia"/>
              </a:rPr>
              <a:t>).</a:t>
            </a:r>
            <a:endParaRPr lang="en-IN" dirty="0"/>
          </a:p>
          <a:p>
            <a:pPr>
              <a:buFont typeface="Arial"/>
              <a:buChar char="•"/>
            </a:pPr>
            <a:r>
              <a:rPr lang="en-IN" b="1" dirty="0">
                <a:latin typeface="Georgia"/>
              </a:rPr>
              <a:t>Stakeholder Interaction Model:</a:t>
            </a:r>
            <a:r>
              <a:rPr lang="en-IN" dirty="0">
                <a:latin typeface="Georgia"/>
              </a:rPr>
              <a:t> Basic framework for role-based blockchain actions.</a:t>
            </a:r>
            <a:endParaRPr lang="en-IN" dirty="0"/>
          </a:p>
          <a:p>
            <a:pPr marL="0" indent="0">
              <a:buNone/>
            </a:pPr>
            <a:endParaRPr lang="en-IN" dirty="0"/>
          </a:p>
        </p:txBody>
      </p:sp>
    </p:spTree>
    <p:extLst>
      <p:ext uri="{BB962C8B-B14F-4D97-AF65-F5344CB8AC3E}">
        <p14:creationId xmlns:p14="http://schemas.microsoft.com/office/powerpoint/2010/main" val="33734736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CE9EDF0-4113-334F-9B47-12CC15A68E59}"/>
              </a:ext>
            </a:extLst>
          </p:cNvPr>
          <p:cNvSpPr>
            <a:spLocks noGrp="1"/>
          </p:cNvSpPr>
          <p:nvPr>
            <p:ph type="title"/>
          </p:nvPr>
        </p:nvSpPr>
        <p:spPr>
          <a:xfrm>
            <a:off x="3450726" y="2380021"/>
            <a:ext cx="6273774" cy="1048979"/>
          </a:xfrm>
        </p:spPr>
        <p:txBody>
          <a:bodyPr/>
          <a:lstStyle/>
          <a:p>
            <a:r>
              <a:rPr lang="en-US" sz="7000" b="1" dirty="0">
                <a:latin typeface="Berlin Sans FB" panose="020E0602020502020306" pitchFamily="34" charset="0"/>
              </a:rPr>
              <a:t>THANK YOU</a:t>
            </a:r>
          </a:p>
        </p:txBody>
      </p:sp>
      <p:sp>
        <p:nvSpPr>
          <p:cNvPr id="4" name="Slide Number Placeholder 3">
            <a:extLst>
              <a:ext uri="{FF2B5EF4-FFF2-40B4-BE49-F238E27FC236}">
                <a16:creationId xmlns:a16="http://schemas.microsoft.com/office/drawing/2014/main" id="{61909B38-9AD0-7347-8960-2DA962C99509}"/>
              </a:ext>
            </a:extLst>
          </p:cNvPr>
          <p:cNvSpPr>
            <a:spLocks noGrp="1"/>
          </p:cNvSpPr>
          <p:nvPr>
            <p:ph type="sldNum" sz="quarter" idx="12"/>
          </p:nvPr>
        </p:nvSpPr>
        <p:spPr/>
        <p:txBody>
          <a:bodyPr/>
          <a:lstStyle/>
          <a:p>
            <a:fld id="{71766878-3199-4EAB-94E7-2D6D11070E14}" type="slidenum">
              <a:rPr lang="en-US" dirty="0" smtClean="0"/>
              <a:pPr/>
              <a:t>39</a:t>
            </a:fld>
            <a:endParaRPr lang="en-US"/>
          </a:p>
        </p:txBody>
      </p:sp>
    </p:spTree>
    <p:extLst>
      <p:ext uri="{BB962C8B-B14F-4D97-AF65-F5344CB8AC3E}">
        <p14:creationId xmlns:p14="http://schemas.microsoft.com/office/powerpoint/2010/main" val="4230959271"/>
      </p:ext>
    </p:extLst>
  </p:cSld>
  <p:clrMapOvr>
    <a:masterClrMapping/>
  </p:clrMapOvr>
</p:sld>
</file>

<file path=ppt/theme/theme1.xml><?xml version="1.0" encoding="utf-8"?>
<a:theme xmlns:a="http://schemas.openxmlformats.org/drawingml/2006/main" name="NAAC PRT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AC PRT Template [Compatibility Mode]" id="{A3D2B74B-B15B-466F-9768-BD91F499C34C}" vid="{0E57DE27-252B-4995-BE16-123377BD3E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88645241B87AB44AAA1C8A2B97EA5EA" ma:contentTypeVersion="4" ma:contentTypeDescription="Create a new document." ma:contentTypeScope="" ma:versionID="e5eab2b7a492f072c7cebb899425435c">
  <xsd:schema xmlns:xsd="http://www.w3.org/2001/XMLSchema" xmlns:xs="http://www.w3.org/2001/XMLSchema" xmlns:p="http://schemas.microsoft.com/office/2006/metadata/properties" xmlns:ns2="3f827772-42f7-40b7-91a4-f468e543f848" targetNamespace="http://schemas.microsoft.com/office/2006/metadata/properties" ma:root="true" ma:fieldsID="f5d82c8ebcefc69e796d42b50e95c8ad" ns2:_="">
    <xsd:import namespace="3f827772-42f7-40b7-91a4-f468e543f84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f827772-42f7-40b7-91a4-f468e543f8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D9BE365-C601-4287-B36F-7ACC0F30231A}">
  <ds:schemaRefs>
    <ds:schemaRef ds:uri="3f827772-42f7-40b7-91a4-f468e543f84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4CC50E3-F888-4D3F-A20C-B500B38A9158}">
  <ds:schemaRefs>
    <ds:schemaRef ds:uri="http://schemas.microsoft.com/sharepoint/v3/contenttype/forms"/>
  </ds:schemaRefs>
</ds:datastoreItem>
</file>

<file path=customXml/itemProps3.xml><?xml version="1.0" encoding="utf-8"?>
<ds:datastoreItem xmlns:ds="http://schemas.openxmlformats.org/officeDocument/2006/customXml" ds:itemID="{538FEAA8-0548-4F62-9011-BF5A8ACE7B87}">
  <ds:schemaRefs>
    <ds:schemaRef ds:uri="0871b904-98c6-4e86-9e88-11239d2b074e"/>
    <ds:schemaRef ds:uri="72316fd4-f550-4442-b53d-c3f520c9067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NAAC PRT Template</Template>
  <TotalTime>620</TotalTime>
  <Words>3695</Words>
  <Application>Microsoft Office PowerPoint</Application>
  <PresentationFormat>Widescreen</PresentationFormat>
  <Paragraphs>370</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Berlin Sans FB</vt:lpstr>
      <vt:lpstr>Calibri</vt:lpstr>
      <vt:lpstr>Consolas</vt:lpstr>
      <vt:lpstr>Georgia</vt:lpstr>
      <vt:lpstr>Times New Roman</vt:lpstr>
      <vt:lpstr>NAAC PRT Template</vt:lpstr>
      <vt:lpstr>PowerPoint Presentation</vt:lpstr>
      <vt:lpstr>Introduction</vt:lpstr>
      <vt:lpstr>Objectives </vt:lpstr>
      <vt:lpstr>Objectives </vt:lpstr>
      <vt:lpstr>Sustainable Development Goals (SDGs)</vt:lpstr>
      <vt:lpstr>Proposed Methodology</vt:lpstr>
      <vt:lpstr>System Architecture Overview </vt:lpstr>
      <vt:lpstr>PowerPoint Presentation</vt:lpstr>
      <vt:lpstr>PowerPoint Presentation</vt:lpstr>
      <vt:lpstr>Blockchain Technology Characteristics Essential for the Agri-Food Sector</vt:lpstr>
      <vt:lpstr>Features Reviewed in the Paper</vt:lpstr>
      <vt:lpstr>Challenges and Future Scope</vt:lpstr>
      <vt:lpstr>Comparing Blockchain and DAG Technologies for Smart Agriculture Traceability in Terms of Efficiency and Latency</vt:lpstr>
      <vt:lpstr>Simulation Results</vt:lpstr>
      <vt:lpstr>Key Takeaways</vt:lpstr>
      <vt:lpstr>Limitations</vt:lpstr>
      <vt:lpstr>Transforming Agricultural Supply Chains: Leveraging Blockchain-Enabled Java Smart Contracts and IoT Integration</vt:lpstr>
      <vt:lpstr>System Architecture</vt:lpstr>
      <vt:lpstr>Research Gaps and Limitations</vt:lpstr>
      <vt:lpstr>Blockchain-based fresh food quality traceability and dynamic monitoring</vt:lpstr>
      <vt:lpstr>System Architecture</vt:lpstr>
      <vt:lpstr>Key Features</vt:lpstr>
      <vt:lpstr>Research Gaps and Limitations</vt:lpstr>
      <vt:lpstr>Blockchain and Smart Contracts Based Agricultural Supply Chain</vt:lpstr>
      <vt:lpstr>Methodology</vt:lpstr>
      <vt:lpstr>Key Takeaways</vt:lpstr>
      <vt:lpstr>PowerPoint Presentation</vt:lpstr>
      <vt:lpstr>PowerPoint Presentation</vt:lpstr>
      <vt:lpstr>PowerPoint Presentation</vt:lpstr>
      <vt:lpstr>PowerPoint Presentation</vt:lpstr>
      <vt:lpstr>Phase-1 Implementation</vt:lpstr>
      <vt:lpstr>PowerPoint Presentation</vt:lpstr>
      <vt:lpstr>PowerPoint Presentation</vt:lpstr>
      <vt:lpstr>Smart Contract Logic (SupplyChain.sol) </vt:lpstr>
      <vt:lpstr>Smart Contract Logic (SupplyChain.sol) </vt:lpstr>
      <vt:lpstr>Frontend Logic: Wallet, Roles &amp; Data </vt:lpstr>
      <vt:lpstr>Frontend Logic: Actions &amp; Hash Handling </vt:lpstr>
      <vt:lpstr>Possible Outcomes &amp; Achievements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bp_peeta@blr.amrita.edu</dc:creator>
  <cp:lastModifiedBy>Nischal V Pattedar</cp:lastModifiedBy>
  <cp:revision>132</cp:revision>
  <dcterms:created xsi:type="dcterms:W3CDTF">2021-03-08T16:55:55Z</dcterms:created>
  <dcterms:modified xsi:type="dcterms:W3CDTF">2025-10-31T04:02:00Z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0x010100D88645241B87AB44AAA1C8A2B97EA5EA</vt:lpwstr>
  </property>
</Properties>
</file>